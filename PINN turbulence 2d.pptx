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Spline Sans"/>
      <p:regular r:id="rId24"/>
      <p:bold r:id="rId25"/>
    </p:embeddedFont>
    <p:embeddedFont>
      <p:font typeface="Gloock"/>
      <p:regular r:id="rId26"/>
    </p:embeddedFont>
    <p:embeddedFont>
      <p:font typeface="Spline Sans SemiBold"/>
      <p:regular r:id="rId27"/>
      <p:bold r:id="rId28"/>
    </p:embeddedFont>
    <p:embeddedFont>
      <p:font typeface="Spline Sans Medium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Spline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loock-regular.fntdata"/><Relationship Id="rId25" Type="http://schemas.openxmlformats.org/officeDocument/2006/relationships/font" Target="fonts/SplineSans-bold.fntdata"/><Relationship Id="rId28" Type="http://schemas.openxmlformats.org/officeDocument/2006/relationships/font" Target="fonts/SplineSansSemiBold-bold.fntdata"/><Relationship Id="rId27" Type="http://schemas.openxmlformats.org/officeDocument/2006/relationships/font" Target="fonts/Spline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lineSa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SplineSans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9e332929_0_1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a9e332929_0_1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6c2de3d9f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6c2de3d9f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6c2de3d9f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6c2de3d9f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6c2de3d9f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6c2de3d9f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a9e33292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a9e33292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6c2de3d9f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6c2de3d9f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6c2de3d9f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6c2de3d9f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6c2de3d9f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6c2de3d9f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aa880f27b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aa880f27b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6c2de3d9f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6c2de3d9f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6c2de3d9f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e6c2de3d9f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6c2de3d9f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6c2de3d9f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aa880f27b_0_2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aa880f27b_0_2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6c2de3d9f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6c2de3d9f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28600" y="167585"/>
            <a:ext cx="3256500" cy="15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745650" y="4142436"/>
            <a:ext cx="2167800" cy="7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18181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801875" y="3453234"/>
            <a:ext cx="61134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28600" y="190168"/>
            <a:ext cx="1652100" cy="915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28600" y="210312"/>
            <a:ext cx="760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28600" y="1498502"/>
            <a:ext cx="77040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28600" y="210312"/>
            <a:ext cx="31167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6201250" y="2571750"/>
            <a:ext cx="27138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228675" y="3055979"/>
            <a:ext cx="1970700" cy="18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228600" y="2467268"/>
            <a:ext cx="19707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2601300" y="3055975"/>
            <a:ext cx="1970700" cy="18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5" type="subTitle"/>
          </p:nvPr>
        </p:nvSpPr>
        <p:spPr>
          <a:xfrm>
            <a:off x="2601225" y="2467268"/>
            <a:ext cx="19707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28600" y="209384"/>
            <a:ext cx="760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228600" y="210279"/>
            <a:ext cx="2169900" cy="15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4572000" y="3006000"/>
            <a:ext cx="4294800" cy="19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228600" y="228600"/>
            <a:ext cx="5607000" cy="25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228600" y="3727500"/>
            <a:ext cx="43434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5658775" y="1013875"/>
            <a:ext cx="3256500" cy="15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228600" y="228600"/>
            <a:ext cx="3256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 sz="1200"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4563750" y="3934180"/>
            <a:ext cx="43599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228600" y="228600"/>
            <a:ext cx="2169900" cy="15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8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228600" y="3194718"/>
            <a:ext cx="3874200" cy="17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5802300" y="2166275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2" type="subTitle"/>
          </p:nvPr>
        </p:nvSpPr>
        <p:spPr>
          <a:xfrm>
            <a:off x="5802300" y="2573792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3" type="subTitle"/>
          </p:nvPr>
        </p:nvSpPr>
        <p:spPr>
          <a:xfrm>
            <a:off x="5802300" y="3388827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4" type="subTitle"/>
          </p:nvPr>
        </p:nvSpPr>
        <p:spPr>
          <a:xfrm>
            <a:off x="5802300" y="4611379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5" type="subTitle"/>
          </p:nvPr>
        </p:nvSpPr>
        <p:spPr>
          <a:xfrm>
            <a:off x="5802300" y="4203862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6" type="subTitle"/>
          </p:nvPr>
        </p:nvSpPr>
        <p:spPr>
          <a:xfrm>
            <a:off x="5802300" y="2981310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5802300" y="3796344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8" type="title"/>
          </p:nvPr>
        </p:nvSpPr>
        <p:spPr>
          <a:xfrm>
            <a:off x="4587500" y="3388569"/>
            <a:ext cx="865800" cy="310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9" type="title"/>
          </p:nvPr>
        </p:nvSpPr>
        <p:spPr>
          <a:xfrm>
            <a:off x="4587500" y="2573362"/>
            <a:ext cx="865800" cy="310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3" type="title"/>
          </p:nvPr>
        </p:nvSpPr>
        <p:spPr>
          <a:xfrm>
            <a:off x="4587500" y="3796173"/>
            <a:ext cx="865800" cy="310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4" type="title"/>
          </p:nvPr>
        </p:nvSpPr>
        <p:spPr>
          <a:xfrm>
            <a:off x="4587500" y="4203777"/>
            <a:ext cx="865800" cy="310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5" type="title"/>
          </p:nvPr>
        </p:nvSpPr>
        <p:spPr>
          <a:xfrm>
            <a:off x="4587500" y="2166058"/>
            <a:ext cx="8658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6" type="title"/>
          </p:nvPr>
        </p:nvSpPr>
        <p:spPr>
          <a:xfrm>
            <a:off x="4587500" y="2980965"/>
            <a:ext cx="8658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7" type="title"/>
          </p:nvPr>
        </p:nvSpPr>
        <p:spPr>
          <a:xfrm>
            <a:off x="4587500" y="4611380"/>
            <a:ext cx="865800" cy="310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18" type="subTitle"/>
          </p:nvPr>
        </p:nvSpPr>
        <p:spPr>
          <a:xfrm>
            <a:off x="5802300" y="1758758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Font typeface="Spline Sans Medium"/>
              <a:buNone/>
              <a:defRPr>
                <a:latin typeface="Spline Sans Medium"/>
                <a:ea typeface="Spline Sans Medium"/>
                <a:cs typeface="Spline Sans Medium"/>
                <a:sym typeface="Spline Sans Medium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19" type="title"/>
          </p:nvPr>
        </p:nvSpPr>
        <p:spPr>
          <a:xfrm>
            <a:off x="4587500" y="1758754"/>
            <a:ext cx="8658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28600" y="4362262"/>
            <a:ext cx="7601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228600" y="209384"/>
            <a:ext cx="760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9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343200" y="3076051"/>
            <a:ext cx="3400500" cy="185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2" y="210312"/>
            <a:ext cx="5430300" cy="25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28600" y="210312"/>
            <a:ext cx="4540200" cy="10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4572000" y="3006000"/>
            <a:ext cx="4294800" cy="19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pline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4" name="Google Shape;84;p17"/>
          <p:cNvSpPr/>
          <p:nvPr>
            <p:ph idx="2" type="pic"/>
          </p:nvPr>
        </p:nvSpPr>
        <p:spPr>
          <a:xfrm>
            <a:off x="342900" y="2571750"/>
            <a:ext cx="3142200" cy="22350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6201250" y="3379768"/>
            <a:ext cx="2731500" cy="156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228600" y="3506700"/>
            <a:ext cx="2683500" cy="14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2" type="subTitle"/>
          </p:nvPr>
        </p:nvSpPr>
        <p:spPr>
          <a:xfrm>
            <a:off x="1106600" y="1195525"/>
            <a:ext cx="40647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3" type="subTitle"/>
          </p:nvPr>
        </p:nvSpPr>
        <p:spPr>
          <a:xfrm>
            <a:off x="1106600" y="210300"/>
            <a:ext cx="40647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4" type="subTitle"/>
          </p:nvPr>
        </p:nvSpPr>
        <p:spPr>
          <a:xfrm>
            <a:off x="1106600" y="2180750"/>
            <a:ext cx="40647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hasCustomPrompt="1" idx="5" type="title"/>
          </p:nvPr>
        </p:nvSpPr>
        <p:spPr>
          <a:xfrm>
            <a:off x="228600" y="1195525"/>
            <a:ext cx="678900" cy="310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/>
          <p:nvPr>
            <p:ph hasCustomPrompt="1" idx="6" type="title"/>
          </p:nvPr>
        </p:nvSpPr>
        <p:spPr>
          <a:xfrm>
            <a:off x="228600" y="210300"/>
            <a:ext cx="677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4" name="Google Shape;94;p18"/>
          <p:cNvSpPr txBox="1"/>
          <p:nvPr>
            <p:ph hasCustomPrompt="1" idx="7" type="title"/>
          </p:nvPr>
        </p:nvSpPr>
        <p:spPr>
          <a:xfrm>
            <a:off x="228600" y="2180750"/>
            <a:ext cx="6789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2_1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228600" y="210312"/>
            <a:ext cx="3256500" cy="15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1314425" y="2193413"/>
            <a:ext cx="21708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2" type="subTitle"/>
          </p:nvPr>
        </p:nvSpPr>
        <p:spPr>
          <a:xfrm>
            <a:off x="1314425" y="1825637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p19"/>
          <p:cNvSpPr txBox="1"/>
          <p:nvPr>
            <p:ph idx="3" type="subTitle"/>
          </p:nvPr>
        </p:nvSpPr>
        <p:spPr>
          <a:xfrm>
            <a:off x="1314425" y="4352329"/>
            <a:ext cx="21708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4" type="subTitle"/>
          </p:nvPr>
        </p:nvSpPr>
        <p:spPr>
          <a:xfrm>
            <a:off x="1314425" y="3984501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5658775" y="2193413"/>
            <a:ext cx="21708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5658775" y="1825637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19"/>
          <p:cNvSpPr txBox="1"/>
          <p:nvPr>
            <p:ph idx="7" type="subTitle"/>
          </p:nvPr>
        </p:nvSpPr>
        <p:spPr>
          <a:xfrm>
            <a:off x="5658775" y="4352329"/>
            <a:ext cx="21708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8" type="subTitle"/>
          </p:nvPr>
        </p:nvSpPr>
        <p:spPr>
          <a:xfrm>
            <a:off x="5658775" y="3984501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Spline Sans Medium"/>
                <a:ea typeface="Spline Sans Medium"/>
                <a:cs typeface="Spline Sans Medium"/>
                <a:sym typeface="Spline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228598" y="228600"/>
            <a:ext cx="3800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228600" y="3852750"/>
            <a:ext cx="38004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5655650" y="3925575"/>
            <a:ext cx="3246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Spline Sans"/>
                <a:ea typeface="Spline Sans"/>
                <a:cs typeface="Spline Sans"/>
                <a:sym typeface="Spline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 </a:t>
            </a:r>
            <a:endParaRPr b="1" sz="1000" u="sng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  <p:grpSp>
        <p:nvGrpSpPr>
          <p:cNvPr id="114" name="Google Shape;114;p21"/>
          <p:cNvGrpSpPr/>
          <p:nvPr/>
        </p:nvGrpSpPr>
        <p:grpSpPr>
          <a:xfrm>
            <a:off x="228676" y="228600"/>
            <a:ext cx="8686723" cy="4686326"/>
            <a:chOff x="228676" y="228600"/>
            <a:chExt cx="8686723" cy="4686326"/>
          </a:xfrm>
        </p:grpSpPr>
        <p:cxnSp>
          <p:nvCxnSpPr>
            <p:cNvPr id="115" name="Google Shape;115;p21"/>
            <p:cNvCxnSpPr/>
            <p:nvPr/>
          </p:nvCxnSpPr>
          <p:spPr>
            <a:xfrm>
              <a:off x="1322025" y="4248926"/>
              <a:ext cx="0" cy="666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21"/>
            <p:cNvCxnSpPr/>
            <p:nvPr/>
          </p:nvCxnSpPr>
          <p:spPr>
            <a:xfrm>
              <a:off x="1322026" y="4020330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21"/>
            <p:cNvCxnSpPr/>
            <p:nvPr/>
          </p:nvCxnSpPr>
          <p:spPr>
            <a:xfrm rot="10800000">
              <a:off x="1196774" y="4134630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21"/>
            <p:cNvCxnSpPr/>
            <p:nvPr/>
          </p:nvCxnSpPr>
          <p:spPr>
            <a:xfrm flipH="1">
              <a:off x="1322050" y="228600"/>
              <a:ext cx="1200" cy="3791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21"/>
            <p:cNvCxnSpPr/>
            <p:nvPr/>
          </p:nvCxnSpPr>
          <p:spPr>
            <a:xfrm rot="10800000">
              <a:off x="1425300" y="4134650"/>
              <a:ext cx="7490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21"/>
            <p:cNvCxnSpPr/>
            <p:nvPr/>
          </p:nvCxnSpPr>
          <p:spPr>
            <a:xfrm rot="10800000">
              <a:off x="228676" y="4134650"/>
              <a:ext cx="968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1314441" y="178475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  <p:grpSp>
        <p:nvGrpSpPr>
          <p:cNvPr id="123" name="Google Shape;123;p22"/>
          <p:cNvGrpSpPr/>
          <p:nvPr/>
        </p:nvGrpSpPr>
        <p:grpSpPr>
          <a:xfrm>
            <a:off x="228517" y="228587"/>
            <a:ext cx="8686883" cy="4686326"/>
            <a:chOff x="228517" y="228600"/>
            <a:chExt cx="8686883" cy="4686326"/>
          </a:xfrm>
        </p:grpSpPr>
        <p:cxnSp>
          <p:nvCxnSpPr>
            <p:cNvPr id="124" name="Google Shape;124;p22"/>
            <p:cNvCxnSpPr/>
            <p:nvPr/>
          </p:nvCxnSpPr>
          <p:spPr>
            <a:xfrm rot="10800000">
              <a:off x="2404880" y="228600"/>
              <a:ext cx="0" cy="666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22"/>
            <p:cNvCxnSpPr/>
            <p:nvPr/>
          </p:nvCxnSpPr>
          <p:spPr>
            <a:xfrm rot="10800000">
              <a:off x="2404881" y="894596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22"/>
            <p:cNvCxnSpPr/>
            <p:nvPr/>
          </p:nvCxnSpPr>
          <p:spPr>
            <a:xfrm rot="10800000">
              <a:off x="2279629" y="1008896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22"/>
            <p:cNvCxnSpPr/>
            <p:nvPr/>
          </p:nvCxnSpPr>
          <p:spPr>
            <a:xfrm rot="10800000">
              <a:off x="2404905" y="1123226"/>
              <a:ext cx="1200" cy="3791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22"/>
            <p:cNvCxnSpPr/>
            <p:nvPr/>
          </p:nvCxnSpPr>
          <p:spPr>
            <a:xfrm rot="10800000">
              <a:off x="2508001" y="1008875"/>
              <a:ext cx="640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22"/>
            <p:cNvCxnSpPr/>
            <p:nvPr/>
          </p:nvCxnSpPr>
          <p:spPr>
            <a:xfrm rot="10800000">
              <a:off x="228517" y="1008875"/>
              <a:ext cx="2051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08021"/>
            <a:ext cx="760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line Sans"/>
              <a:buNone/>
              <a:defRPr sz="2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10138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indent="-304800" lvl="1" marL="9144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indent="-304800" lvl="2" marL="1371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indent="-304800" lvl="3" marL="18288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indent="-304800" lvl="4" marL="2286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indent="-304800" lvl="5" marL="27432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indent="-304800" lvl="6" marL="32004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indent="-304800" lvl="7" marL="36576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○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indent="-304800" lvl="8" marL="41148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■"/>
              <a:defRPr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829541" y="228600"/>
            <a:ext cx="1086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1pPr>
            <a:lvl2pPr lvl="1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2pPr>
            <a:lvl3pPr lvl="2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3pPr>
            <a:lvl4pPr lvl="3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4pPr>
            <a:lvl5pPr lvl="4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5pPr>
            <a:lvl6pPr lvl="5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6pPr>
            <a:lvl7pPr lvl="6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7pPr>
            <a:lvl8pPr lvl="7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8pPr>
            <a:lvl9pPr lvl="8">
              <a:buNone/>
              <a:defRPr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.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42900" y="1661550"/>
            <a:ext cx="4515600" cy="15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turbulenc</a:t>
            </a:r>
            <a:r>
              <a:rPr lang="en"/>
              <a:t>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75300" y="1509050"/>
            <a:ext cx="2693700" cy="2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D E E P   L E A R N I N G    S E M E S T E R    P R O J E C T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6865575" y="254525"/>
            <a:ext cx="22512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NATIONAL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INSTITUTE OF </a:t>
            </a:r>
            <a:br>
              <a:rPr lang="en" sz="1300"/>
            </a:br>
            <a:r>
              <a:rPr lang="en" sz="1300"/>
              <a:t>TECHNOLOGY</a:t>
            </a:r>
            <a:br>
              <a:rPr lang="en"/>
            </a:br>
            <a:r>
              <a:rPr lang="en"/>
              <a:t>SIKKIM</a:t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342900" y="4656800"/>
            <a:ext cx="31173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accent1"/>
                </a:solidFill>
                <a:latin typeface="Spline Sans"/>
                <a:ea typeface="Spline Sans"/>
                <a:cs typeface="Spline Sans"/>
                <a:sym typeface="Spline Sans"/>
              </a:rPr>
              <a:t>Supervised under</a:t>
            </a:r>
            <a:r>
              <a:rPr lang="en" sz="1000">
                <a:solidFill>
                  <a:schemeClr val="accent1"/>
                </a:solidFill>
                <a:latin typeface="Spline Sans SemiBold"/>
                <a:ea typeface="Spline Sans SemiBold"/>
                <a:cs typeface="Spline Sans SemiBold"/>
                <a:sym typeface="Spline Sans SemiBold"/>
              </a:rPr>
              <a:t>     </a:t>
            </a:r>
            <a:r>
              <a:rPr lang="en" sz="900">
                <a:solidFill>
                  <a:schemeClr val="accent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D R .  B A M    B A H A D U R    S I N H A</a:t>
            </a:r>
            <a:endParaRPr sz="1100">
              <a:solidFill>
                <a:schemeClr val="dk1"/>
              </a:solidFill>
              <a:latin typeface="Spline Sans Medium"/>
              <a:ea typeface="Spline Sans Medium"/>
              <a:cs typeface="Spline Sans Medium"/>
              <a:sym typeface="Spline Sans Medium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 rotWithShape="1">
          <a:blip r:embed="rId3">
            <a:alphaModFix/>
          </a:blip>
          <a:srcRect b="17426" l="53418" r="3932" t="14370"/>
          <a:stretch/>
        </p:blipFill>
        <p:spPr>
          <a:xfrm>
            <a:off x="5805725" y="311025"/>
            <a:ext cx="881100" cy="887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>
            <p:ph idx="1" type="subTitle"/>
          </p:nvPr>
        </p:nvSpPr>
        <p:spPr>
          <a:xfrm>
            <a:off x="5805725" y="3531375"/>
            <a:ext cx="2514000" cy="54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P R E S E N T     B Y -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R O H A N       S H A R M A           </a:t>
            </a:r>
            <a:r>
              <a:rPr i="1" lang="en" sz="800">
                <a:solidFill>
                  <a:schemeClr val="dk1"/>
                </a:solidFill>
              </a:rPr>
              <a:t>M 2 5 0 0 1 4 C S</a:t>
            </a:r>
            <a:endParaRPr i="1" sz="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1"/>
                </a:solidFill>
              </a:rPr>
              <a:t>M .T e c h  i n    A I  &amp;   M L</a:t>
            </a:r>
            <a:endParaRPr i="1"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704850" y="556050"/>
            <a:ext cx="47349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R O B L E M    S T A T E M E N T S </a:t>
            </a:r>
            <a:endParaRPr/>
          </a:p>
        </p:txBody>
      </p:sp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704850" y="1656575"/>
            <a:ext cx="73617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100">
                <a:solidFill>
                  <a:srgbClr val="000000"/>
                </a:solidFill>
              </a:rPr>
              <a:t>Turbulent fluid flow is governed by nonlinear partial differential equations (PDEs), specifically the Navier–Stokes equations.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Traditional numerical methods (CFD: Finite Difference / Finite Element / Spectral Methods): 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Requires fine meshes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Are </a:t>
            </a:r>
            <a:r>
              <a:rPr lang="en" sz="1100">
                <a:solidFill>
                  <a:srgbClr val="000000"/>
                </a:solidFill>
              </a:rPr>
              <a:t>computationally</a:t>
            </a:r>
            <a:r>
              <a:rPr lang="en" sz="1100">
                <a:solidFill>
                  <a:srgbClr val="000000"/>
                </a:solidFill>
              </a:rPr>
              <a:t>  expensive 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000000"/>
                </a:solidFill>
              </a:rPr>
              <a:t>Struggles with high dimensional and real time predictions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704850" y="1129000"/>
            <a:ext cx="1966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Traditional methods</a:t>
            </a:r>
            <a:endParaRPr sz="1400"/>
          </a:p>
        </p:txBody>
      </p:sp>
      <p:sp>
        <p:nvSpPr>
          <p:cNvPr id="147" name="Google Shape;147;p24"/>
          <p:cNvSpPr txBox="1"/>
          <p:nvPr/>
        </p:nvSpPr>
        <p:spPr>
          <a:xfrm>
            <a:off x="704850" y="3385900"/>
            <a:ext cx="73287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There is need for </a:t>
            </a:r>
            <a:endParaRPr b="1" sz="1200">
              <a:solidFill>
                <a:schemeClr val="accent1"/>
              </a:solidFill>
              <a:latin typeface="Gloock"/>
              <a:ea typeface="Gloock"/>
              <a:cs typeface="Gloock"/>
              <a:sym typeface="Gloock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pline Sans"/>
              <a:buChar char="○"/>
            </a:pPr>
            <a:r>
              <a:rPr lang="en" sz="1100">
                <a:solidFill>
                  <a:schemeClr val="dk2"/>
                </a:solidFill>
                <a:latin typeface="Spline Sans"/>
                <a:ea typeface="Spline Sans"/>
                <a:cs typeface="Spline Sans"/>
                <a:sym typeface="Spline Sans"/>
              </a:rPr>
              <a:t>A data efficient </a:t>
            </a:r>
            <a:endParaRPr sz="1100">
              <a:solidFill>
                <a:schemeClr val="dk2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pline Sans"/>
              <a:buChar char="○"/>
            </a:pPr>
            <a:r>
              <a:rPr lang="en" sz="1100">
                <a:solidFill>
                  <a:schemeClr val="dk2"/>
                </a:solidFill>
                <a:latin typeface="Spline Sans"/>
                <a:ea typeface="Spline Sans"/>
                <a:cs typeface="Spline Sans"/>
                <a:sym typeface="Spline Sans"/>
              </a:rPr>
              <a:t>Mesh free </a:t>
            </a:r>
            <a:endParaRPr sz="1100">
              <a:solidFill>
                <a:schemeClr val="dk2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pline Sans"/>
              <a:buChar char="○"/>
            </a:pPr>
            <a:r>
              <a:rPr lang="en" sz="1100">
                <a:solidFill>
                  <a:schemeClr val="dk2"/>
                </a:solidFill>
                <a:latin typeface="Spline Sans"/>
                <a:ea typeface="Spline Sans"/>
                <a:cs typeface="Spline Sans"/>
                <a:sym typeface="Spline Sans"/>
              </a:rPr>
              <a:t>Physics-consistent approach</a:t>
            </a:r>
            <a:endParaRPr sz="1100">
              <a:solidFill>
                <a:schemeClr val="dk2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228600" y="210302"/>
            <a:ext cx="31167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 N T R O D U C T I O N</a:t>
            </a:r>
            <a:endParaRPr sz="1500"/>
          </a:p>
        </p:txBody>
      </p:sp>
      <p:grpSp>
        <p:nvGrpSpPr>
          <p:cNvPr id="153" name="Google Shape;153;p25"/>
          <p:cNvGrpSpPr/>
          <p:nvPr/>
        </p:nvGrpSpPr>
        <p:grpSpPr>
          <a:xfrm>
            <a:off x="228675" y="228596"/>
            <a:ext cx="8680901" cy="4686358"/>
            <a:chOff x="228675" y="228596"/>
            <a:chExt cx="8680901" cy="4686358"/>
          </a:xfrm>
        </p:grpSpPr>
        <p:cxnSp>
          <p:nvCxnSpPr>
            <p:cNvPr id="154" name="Google Shape;154;p25"/>
            <p:cNvCxnSpPr/>
            <p:nvPr/>
          </p:nvCxnSpPr>
          <p:spPr>
            <a:xfrm>
              <a:off x="5667625" y="1914054"/>
              <a:ext cx="0" cy="3000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5"/>
            <p:cNvCxnSpPr/>
            <p:nvPr/>
          </p:nvCxnSpPr>
          <p:spPr>
            <a:xfrm>
              <a:off x="5667625" y="1685438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5"/>
            <p:cNvCxnSpPr/>
            <p:nvPr/>
          </p:nvCxnSpPr>
          <p:spPr>
            <a:xfrm>
              <a:off x="5564277" y="1799738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25"/>
            <p:cNvCxnSpPr/>
            <p:nvPr/>
          </p:nvCxnSpPr>
          <p:spPr>
            <a:xfrm>
              <a:off x="5667625" y="228596"/>
              <a:ext cx="0" cy="1456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25"/>
            <p:cNvCxnSpPr/>
            <p:nvPr/>
          </p:nvCxnSpPr>
          <p:spPr>
            <a:xfrm>
              <a:off x="228675" y="1799750"/>
              <a:ext cx="5335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25"/>
            <p:cNvCxnSpPr/>
            <p:nvPr/>
          </p:nvCxnSpPr>
          <p:spPr>
            <a:xfrm>
              <a:off x="5792876" y="1799750"/>
              <a:ext cx="311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0" name="Google Shape;160;p25"/>
          <p:cNvSpPr txBox="1"/>
          <p:nvPr/>
        </p:nvSpPr>
        <p:spPr>
          <a:xfrm>
            <a:off x="228675" y="952475"/>
            <a:ext cx="50433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Physics Informed </a:t>
            </a:r>
            <a:r>
              <a:rPr lang="en" sz="2100">
                <a:solidFill>
                  <a:schemeClr val="dk2"/>
                </a:solidFill>
                <a:latin typeface="Gloock"/>
                <a:ea typeface="Gloock"/>
                <a:cs typeface="Gloock"/>
                <a:sym typeface="Gloock"/>
              </a:rPr>
              <a:t>Neural Networks</a:t>
            </a:r>
            <a:endParaRPr sz="2100">
              <a:solidFill>
                <a:schemeClr val="dk2"/>
              </a:solidFill>
              <a:latin typeface="Gloock"/>
              <a:ea typeface="Gloock"/>
              <a:cs typeface="Gloock"/>
              <a:sym typeface="Gloock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5825750" y="686675"/>
            <a:ext cx="3083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Deep learning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Governing physics laws (PDEs)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228600" y="210302"/>
            <a:ext cx="31167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 N T R O D U C T I O N</a:t>
            </a:r>
            <a:endParaRPr sz="1500"/>
          </a:p>
        </p:txBody>
      </p:sp>
      <p:grpSp>
        <p:nvGrpSpPr>
          <p:cNvPr id="167" name="Google Shape;167;p26"/>
          <p:cNvGrpSpPr/>
          <p:nvPr/>
        </p:nvGrpSpPr>
        <p:grpSpPr>
          <a:xfrm>
            <a:off x="228675" y="228596"/>
            <a:ext cx="8680901" cy="4686358"/>
            <a:chOff x="228675" y="228596"/>
            <a:chExt cx="8680901" cy="4686358"/>
          </a:xfrm>
        </p:grpSpPr>
        <p:cxnSp>
          <p:nvCxnSpPr>
            <p:cNvPr id="168" name="Google Shape;168;p26"/>
            <p:cNvCxnSpPr/>
            <p:nvPr/>
          </p:nvCxnSpPr>
          <p:spPr>
            <a:xfrm>
              <a:off x="5667625" y="1914054"/>
              <a:ext cx="0" cy="3000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26"/>
            <p:cNvCxnSpPr/>
            <p:nvPr/>
          </p:nvCxnSpPr>
          <p:spPr>
            <a:xfrm>
              <a:off x="5667625" y="1685438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6"/>
            <p:cNvCxnSpPr/>
            <p:nvPr/>
          </p:nvCxnSpPr>
          <p:spPr>
            <a:xfrm>
              <a:off x="5564277" y="1799738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6"/>
            <p:cNvCxnSpPr/>
            <p:nvPr/>
          </p:nvCxnSpPr>
          <p:spPr>
            <a:xfrm>
              <a:off x="5667625" y="228596"/>
              <a:ext cx="0" cy="1456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26"/>
            <p:cNvCxnSpPr/>
            <p:nvPr/>
          </p:nvCxnSpPr>
          <p:spPr>
            <a:xfrm>
              <a:off x="228675" y="1799750"/>
              <a:ext cx="5335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26"/>
            <p:cNvCxnSpPr/>
            <p:nvPr/>
          </p:nvCxnSpPr>
          <p:spPr>
            <a:xfrm>
              <a:off x="5792876" y="1799750"/>
              <a:ext cx="311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4" name="Google Shape;174;p26"/>
          <p:cNvSpPr txBox="1"/>
          <p:nvPr/>
        </p:nvSpPr>
        <p:spPr>
          <a:xfrm>
            <a:off x="228675" y="952475"/>
            <a:ext cx="50433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Physics Informed </a:t>
            </a:r>
            <a:r>
              <a:rPr lang="en" sz="2100">
                <a:solidFill>
                  <a:schemeClr val="dk2"/>
                </a:solidFill>
                <a:latin typeface="Gloock"/>
                <a:ea typeface="Gloock"/>
                <a:cs typeface="Gloock"/>
                <a:sym typeface="Gloock"/>
              </a:rPr>
              <a:t>Neural Networks</a:t>
            </a:r>
            <a:endParaRPr sz="2100">
              <a:solidFill>
                <a:schemeClr val="dk2"/>
              </a:solidFill>
              <a:latin typeface="Gloock"/>
              <a:ea typeface="Gloock"/>
              <a:cs typeface="Gloock"/>
              <a:sym typeface="Gloock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5825750" y="686675"/>
            <a:ext cx="3083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Deep learning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Governing physics laws (PDEs)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287975" y="2067450"/>
            <a:ext cx="49839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Instead of learning from the labelled data , PINNs enforces </a:t>
            </a:r>
            <a:r>
              <a:rPr lang="en" sz="12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Navier Stokes equation</a:t>
            </a: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 as loss functions.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loock"/>
                <a:ea typeface="Gloock"/>
                <a:cs typeface="Gloock"/>
                <a:sym typeface="Gloock"/>
              </a:rPr>
              <a:t>Advantages </a:t>
            </a:r>
            <a:endParaRPr sz="1200">
              <a:solidFill>
                <a:schemeClr val="dk1"/>
              </a:solidFill>
              <a:latin typeface="Gloock"/>
              <a:ea typeface="Gloock"/>
              <a:cs typeface="Gloock"/>
              <a:sym typeface="Gloock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No CFD snapshots are needed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Mesh free in formulation and evaluated at any point in the domain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Works well for the inverse and forwards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228600" y="210302"/>
            <a:ext cx="31167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 N T R O D U C T I O N</a:t>
            </a:r>
            <a:endParaRPr sz="1500"/>
          </a:p>
        </p:txBody>
      </p:sp>
      <p:grpSp>
        <p:nvGrpSpPr>
          <p:cNvPr id="182" name="Google Shape;182;p27"/>
          <p:cNvGrpSpPr/>
          <p:nvPr/>
        </p:nvGrpSpPr>
        <p:grpSpPr>
          <a:xfrm>
            <a:off x="228675" y="228596"/>
            <a:ext cx="8680901" cy="4686358"/>
            <a:chOff x="228675" y="228596"/>
            <a:chExt cx="8680901" cy="4686358"/>
          </a:xfrm>
        </p:grpSpPr>
        <p:cxnSp>
          <p:nvCxnSpPr>
            <p:cNvPr id="183" name="Google Shape;183;p27"/>
            <p:cNvCxnSpPr/>
            <p:nvPr/>
          </p:nvCxnSpPr>
          <p:spPr>
            <a:xfrm>
              <a:off x="5667625" y="1914054"/>
              <a:ext cx="0" cy="3000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7"/>
            <p:cNvCxnSpPr/>
            <p:nvPr/>
          </p:nvCxnSpPr>
          <p:spPr>
            <a:xfrm>
              <a:off x="5667625" y="1685438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27"/>
            <p:cNvCxnSpPr/>
            <p:nvPr/>
          </p:nvCxnSpPr>
          <p:spPr>
            <a:xfrm>
              <a:off x="5564277" y="1799738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27"/>
            <p:cNvCxnSpPr/>
            <p:nvPr/>
          </p:nvCxnSpPr>
          <p:spPr>
            <a:xfrm>
              <a:off x="5667625" y="228596"/>
              <a:ext cx="0" cy="1456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27"/>
            <p:cNvCxnSpPr/>
            <p:nvPr/>
          </p:nvCxnSpPr>
          <p:spPr>
            <a:xfrm>
              <a:off x="228675" y="1799750"/>
              <a:ext cx="5335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7"/>
            <p:cNvCxnSpPr/>
            <p:nvPr/>
          </p:nvCxnSpPr>
          <p:spPr>
            <a:xfrm>
              <a:off x="5792876" y="1799750"/>
              <a:ext cx="311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27"/>
          <p:cNvSpPr txBox="1"/>
          <p:nvPr/>
        </p:nvSpPr>
        <p:spPr>
          <a:xfrm>
            <a:off x="228675" y="952475"/>
            <a:ext cx="50433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Physics Informed </a:t>
            </a:r>
            <a:r>
              <a:rPr lang="en" sz="2100">
                <a:solidFill>
                  <a:schemeClr val="dk2"/>
                </a:solidFill>
                <a:latin typeface="Gloock"/>
                <a:ea typeface="Gloock"/>
                <a:cs typeface="Gloock"/>
                <a:sym typeface="Gloock"/>
              </a:rPr>
              <a:t>Neural Networks</a:t>
            </a:r>
            <a:endParaRPr sz="2100">
              <a:solidFill>
                <a:schemeClr val="dk2"/>
              </a:solidFill>
              <a:latin typeface="Gloock"/>
              <a:ea typeface="Gloock"/>
              <a:cs typeface="Gloock"/>
              <a:sym typeface="Gloock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5825750" y="686675"/>
            <a:ext cx="3083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Deep learning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Governing physics laws (PDEs)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287975" y="2067450"/>
            <a:ext cx="49839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Instead of learning from the labelled data , PINNs enforces </a:t>
            </a:r>
            <a:r>
              <a:rPr lang="en" sz="12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Navier Stokes equation</a:t>
            </a: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 as loss functions.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loock"/>
                <a:ea typeface="Gloock"/>
                <a:cs typeface="Gloock"/>
                <a:sym typeface="Gloock"/>
              </a:rPr>
              <a:t>Advantages </a:t>
            </a:r>
            <a:endParaRPr sz="1200">
              <a:solidFill>
                <a:schemeClr val="dk1"/>
              </a:solidFill>
              <a:latin typeface="Gloock"/>
              <a:ea typeface="Gloock"/>
              <a:cs typeface="Gloock"/>
              <a:sym typeface="Gloock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No need for large labelled datasets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Continous solution over the domain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Works well for the inverse and forwards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5840525" y="2082200"/>
            <a:ext cx="30051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We tried to solve a 2D kolmogorov flow problem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5943900" y="2953500"/>
            <a:ext cx="1329000" cy="72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Velocity field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(u,v)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7395825" y="2953500"/>
            <a:ext cx="1329000" cy="72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Pressure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(p)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6703100" y="4092650"/>
            <a:ext cx="1329000" cy="72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Vorticity,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speed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</p:txBody>
      </p:sp>
      <p:cxnSp>
        <p:nvCxnSpPr>
          <p:cNvPr id="196" name="Google Shape;196;p27"/>
          <p:cNvCxnSpPr>
            <a:endCxn id="195" idx="0"/>
          </p:cNvCxnSpPr>
          <p:nvPr/>
        </p:nvCxnSpPr>
        <p:spPr>
          <a:xfrm>
            <a:off x="6608300" y="3677150"/>
            <a:ext cx="7593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7"/>
          <p:cNvCxnSpPr>
            <a:stCxn id="194" idx="2"/>
            <a:endCxn id="195" idx="0"/>
          </p:cNvCxnSpPr>
          <p:nvPr/>
        </p:nvCxnSpPr>
        <p:spPr>
          <a:xfrm flipH="1">
            <a:off x="7367625" y="3677100"/>
            <a:ext cx="6927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idx="1" type="subTitle"/>
          </p:nvPr>
        </p:nvSpPr>
        <p:spPr>
          <a:xfrm>
            <a:off x="5117075" y="1291825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Initialising  PINNs </a:t>
            </a:r>
            <a:endParaRPr/>
          </a:p>
        </p:txBody>
      </p:sp>
      <p:sp>
        <p:nvSpPr>
          <p:cNvPr id="203" name="Google Shape;203;p28"/>
          <p:cNvSpPr txBox="1"/>
          <p:nvPr>
            <p:ph idx="2" type="subTitle"/>
          </p:nvPr>
        </p:nvSpPr>
        <p:spPr>
          <a:xfrm>
            <a:off x="5117075" y="1699342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 COLLOCATION points (x,y)</a:t>
            </a:r>
            <a:endParaRPr/>
          </a:p>
        </p:txBody>
      </p:sp>
      <p:sp>
        <p:nvSpPr>
          <p:cNvPr id="204" name="Google Shape;204;p28"/>
          <p:cNvSpPr txBox="1"/>
          <p:nvPr>
            <p:ph idx="3" type="subTitle"/>
          </p:nvPr>
        </p:nvSpPr>
        <p:spPr>
          <a:xfrm>
            <a:off x="5117075" y="2514377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derivatives (Auto Diff) </a:t>
            </a:r>
            <a:endParaRPr/>
          </a:p>
        </p:txBody>
      </p:sp>
      <p:sp>
        <p:nvSpPr>
          <p:cNvPr id="205" name="Google Shape;205;p28"/>
          <p:cNvSpPr txBox="1"/>
          <p:nvPr>
            <p:ph idx="5" type="subTitle"/>
          </p:nvPr>
        </p:nvSpPr>
        <p:spPr>
          <a:xfrm>
            <a:off x="5117075" y="3329412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PINN </a:t>
            </a:r>
            <a:endParaRPr/>
          </a:p>
        </p:txBody>
      </p:sp>
      <p:sp>
        <p:nvSpPr>
          <p:cNvPr id="206" name="Google Shape;206;p28"/>
          <p:cNvSpPr txBox="1"/>
          <p:nvPr>
            <p:ph idx="6" type="subTitle"/>
          </p:nvPr>
        </p:nvSpPr>
        <p:spPr>
          <a:xfrm>
            <a:off x="5117075" y="2106860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Pass —&gt;  predict   (u, v, p)</a:t>
            </a:r>
            <a:endParaRPr/>
          </a:p>
        </p:txBody>
      </p:sp>
      <p:sp>
        <p:nvSpPr>
          <p:cNvPr id="207" name="Google Shape;207;p28"/>
          <p:cNvSpPr txBox="1"/>
          <p:nvPr>
            <p:ph idx="7" type="subTitle"/>
          </p:nvPr>
        </p:nvSpPr>
        <p:spPr>
          <a:xfrm>
            <a:off x="5117075" y="2921894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alc.  Loss - PDE residual ,  - Boundary Loss</a:t>
            </a:r>
            <a:endParaRPr/>
          </a:p>
        </p:txBody>
      </p:sp>
      <p:sp>
        <p:nvSpPr>
          <p:cNvPr id="208" name="Google Shape;208;p28"/>
          <p:cNvSpPr txBox="1"/>
          <p:nvPr>
            <p:ph idx="4" type="subTitle"/>
          </p:nvPr>
        </p:nvSpPr>
        <p:spPr>
          <a:xfrm>
            <a:off x="5117075" y="3736929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 field prediction </a:t>
            </a:r>
            <a:endParaRPr/>
          </a:p>
        </p:txBody>
      </p:sp>
      <p:sp>
        <p:nvSpPr>
          <p:cNvPr id="209" name="Google Shape;209;p28"/>
          <p:cNvSpPr txBox="1"/>
          <p:nvPr>
            <p:ph type="title"/>
          </p:nvPr>
        </p:nvSpPr>
        <p:spPr>
          <a:xfrm>
            <a:off x="265525" y="1406950"/>
            <a:ext cx="2978700" cy="17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R O J E C T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O R K F L O W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 C H I T E C T U R E</a:t>
            </a:r>
            <a:endParaRPr/>
          </a:p>
        </p:txBody>
      </p:sp>
      <p:sp>
        <p:nvSpPr>
          <p:cNvPr id="210" name="Google Shape;210;p28"/>
          <p:cNvSpPr txBox="1"/>
          <p:nvPr>
            <p:ph idx="8" type="title"/>
          </p:nvPr>
        </p:nvSpPr>
        <p:spPr>
          <a:xfrm>
            <a:off x="3902275" y="2552469"/>
            <a:ext cx="8658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05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.</a:t>
            </a:r>
            <a:endParaRPr/>
          </a:p>
        </p:txBody>
      </p:sp>
      <p:sp>
        <p:nvSpPr>
          <p:cNvPr id="211" name="Google Shape;211;p28"/>
          <p:cNvSpPr txBox="1"/>
          <p:nvPr>
            <p:ph idx="9" type="title"/>
          </p:nvPr>
        </p:nvSpPr>
        <p:spPr>
          <a:xfrm>
            <a:off x="3902275" y="1735724"/>
            <a:ext cx="8658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03.</a:t>
            </a:r>
            <a:endParaRPr/>
          </a:p>
        </p:txBody>
      </p:sp>
      <p:sp>
        <p:nvSpPr>
          <p:cNvPr id="212" name="Google Shape;212;p28"/>
          <p:cNvSpPr txBox="1"/>
          <p:nvPr>
            <p:ph idx="13" type="title"/>
          </p:nvPr>
        </p:nvSpPr>
        <p:spPr>
          <a:xfrm>
            <a:off x="3902275" y="2961723"/>
            <a:ext cx="8658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06.</a:t>
            </a:r>
            <a:endParaRPr/>
          </a:p>
        </p:txBody>
      </p:sp>
      <p:sp>
        <p:nvSpPr>
          <p:cNvPr id="213" name="Google Shape;213;p28"/>
          <p:cNvSpPr txBox="1"/>
          <p:nvPr>
            <p:ph idx="14" type="title"/>
          </p:nvPr>
        </p:nvSpPr>
        <p:spPr>
          <a:xfrm>
            <a:off x="3902275" y="3349327"/>
            <a:ext cx="8658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07.</a:t>
            </a:r>
            <a:endParaRPr/>
          </a:p>
        </p:txBody>
      </p:sp>
      <p:sp>
        <p:nvSpPr>
          <p:cNvPr id="214" name="Google Shape;214;p28"/>
          <p:cNvSpPr txBox="1"/>
          <p:nvPr>
            <p:ph idx="15" type="title"/>
          </p:nvPr>
        </p:nvSpPr>
        <p:spPr>
          <a:xfrm>
            <a:off x="3902275" y="1350508"/>
            <a:ext cx="8658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02.</a:t>
            </a:r>
            <a:endParaRPr/>
          </a:p>
        </p:txBody>
      </p:sp>
      <p:sp>
        <p:nvSpPr>
          <p:cNvPr id="215" name="Google Shape;215;p28"/>
          <p:cNvSpPr txBox="1"/>
          <p:nvPr>
            <p:ph idx="16" type="title"/>
          </p:nvPr>
        </p:nvSpPr>
        <p:spPr>
          <a:xfrm>
            <a:off x="3902275" y="2121240"/>
            <a:ext cx="8658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04.</a:t>
            </a:r>
            <a:endParaRPr/>
          </a:p>
        </p:txBody>
      </p:sp>
      <p:sp>
        <p:nvSpPr>
          <p:cNvPr id="216" name="Google Shape;216;p28"/>
          <p:cNvSpPr txBox="1"/>
          <p:nvPr>
            <p:ph idx="17" type="title"/>
          </p:nvPr>
        </p:nvSpPr>
        <p:spPr>
          <a:xfrm>
            <a:off x="3902275" y="3773055"/>
            <a:ext cx="8658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08.</a:t>
            </a:r>
            <a:endParaRPr/>
          </a:p>
        </p:txBody>
      </p:sp>
      <p:sp>
        <p:nvSpPr>
          <p:cNvPr id="217" name="Google Shape;217;p28"/>
          <p:cNvSpPr txBox="1"/>
          <p:nvPr>
            <p:ph idx="18" type="subTitle"/>
          </p:nvPr>
        </p:nvSpPr>
        <p:spPr>
          <a:xfrm>
            <a:off x="5117075" y="831496"/>
            <a:ext cx="3113100" cy="4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Installing libraries and loading dependancies</a:t>
            </a:r>
            <a:endParaRPr/>
          </a:p>
        </p:txBody>
      </p:sp>
      <p:sp>
        <p:nvSpPr>
          <p:cNvPr id="218" name="Google Shape;218;p28"/>
          <p:cNvSpPr txBox="1"/>
          <p:nvPr>
            <p:ph idx="19" type="title"/>
          </p:nvPr>
        </p:nvSpPr>
        <p:spPr>
          <a:xfrm>
            <a:off x="3902275" y="919279"/>
            <a:ext cx="8658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01.</a:t>
            </a:r>
            <a:endParaRPr/>
          </a:p>
        </p:txBody>
      </p:sp>
      <p:sp>
        <p:nvSpPr>
          <p:cNvPr id="219" name="Google Shape;219;p28"/>
          <p:cNvSpPr txBox="1"/>
          <p:nvPr>
            <p:ph idx="19" type="title"/>
          </p:nvPr>
        </p:nvSpPr>
        <p:spPr>
          <a:xfrm>
            <a:off x="3902275" y="4146179"/>
            <a:ext cx="8658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    </a:t>
            </a:r>
            <a:r>
              <a:rPr lang="en" sz="16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09.</a:t>
            </a:r>
            <a:endParaRPr/>
          </a:p>
        </p:txBody>
      </p:sp>
      <p:sp>
        <p:nvSpPr>
          <p:cNvPr id="220" name="Google Shape;220;p28"/>
          <p:cNvSpPr txBox="1"/>
          <p:nvPr>
            <p:ph idx="18" type="subTitle"/>
          </p:nvPr>
        </p:nvSpPr>
        <p:spPr>
          <a:xfrm>
            <a:off x="5117075" y="4109058"/>
            <a:ext cx="3113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/>
        </p:nvSpPr>
        <p:spPr>
          <a:xfrm>
            <a:off x="601325" y="4492525"/>
            <a:ext cx="1086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Spline Sans SemiBold"/>
                <a:ea typeface="Spline Sans SemiBold"/>
                <a:cs typeface="Spline Sans SemiBold"/>
                <a:sym typeface="Spline Sans SemiBold"/>
              </a:rPr>
              <a:t>Methodology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26" name="Google Shape;226;p29"/>
          <p:cNvSpPr txBox="1"/>
          <p:nvPr>
            <p:ph idx="2" type="title"/>
          </p:nvPr>
        </p:nvSpPr>
        <p:spPr>
          <a:xfrm>
            <a:off x="228600" y="652675"/>
            <a:ext cx="1927500" cy="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ock"/>
                <a:ea typeface="Gloock"/>
                <a:cs typeface="Gloock"/>
                <a:sym typeface="Gloock"/>
              </a:rPr>
              <a:t>Governing physics</a:t>
            </a:r>
            <a:endParaRPr sz="800">
              <a:latin typeface="Gloock"/>
              <a:ea typeface="Gloock"/>
              <a:cs typeface="Gloock"/>
              <a:sym typeface="Gloock"/>
            </a:endParaRPr>
          </a:p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2860275" y="347925"/>
            <a:ext cx="13863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Continuity :</a:t>
            </a:r>
            <a:endParaRPr/>
          </a:p>
        </p:txBody>
      </p:sp>
      <p:sp>
        <p:nvSpPr>
          <p:cNvPr id="228" name="Google Shape;228;p29"/>
          <p:cNvSpPr txBox="1"/>
          <p:nvPr>
            <p:ph idx="12" type="sldNum"/>
          </p:nvPr>
        </p:nvSpPr>
        <p:spPr>
          <a:xfrm>
            <a:off x="2555775" y="778475"/>
            <a:ext cx="1690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momentum :</a:t>
            </a:r>
            <a:endParaRPr/>
          </a:p>
        </p:txBody>
      </p:sp>
      <p:sp>
        <p:nvSpPr>
          <p:cNvPr id="229" name="Google Shape;229;p29"/>
          <p:cNvSpPr txBox="1"/>
          <p:nvPr>
            <p:ph idx="12" type="sldNum"/>
          </p:nvPr>
        </p:nvSpPr>
        <p:spPr>
          <a:xfrm>
            <a:off x="2555775" y="1209025"/>
            <a:ext cx="1690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momentum :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4302850" y="311000"/>
            <a:ext cx="1643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 u</a:t>
            </a:r>
            <a:r>
              <a:rPr baseline="-25000" i="1" lang="en" sz="17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x</a:t>
            </a:r>
            <a:r>
              <a:rPr i="1" lang="en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+  v</a:t>
            </a:r>
            <a:r>
              <a:rPr baseline="-25000" i="1" lang="en" sz="16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y</a:t>
            </a:r>
            <a:r>
              <a:rPr i="1" lang="en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=  0 </a:t>
            </a:r>
            <a:endParaRPr i="1">
              <a:solidFill>
                <a:schemeClr val="dk1"/>
              </a:solidFill>
              <a:latin typeface="Spline Sans Medium"/>
              <a:ea typeface="Spline Sans Medium"/>
              <a:cs typeface="Spline Sans Medium"/>
              <a:sym typeface="Spline Sans Medium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4302850" y="778475"/>
            <a:ext cx="22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uu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x</a:t>
            </a:r>
            <a:r>
              <a:rPr i="1" lang="en" sz="13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+ vu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y​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= −p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x​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+  1/Re ​(u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xx​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+u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yy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​) </a:t>
            </a:r>
            <a:endParaRPr i="1" sz="1200">
              <a:solidFill>
                <a:schemeClr val="dk1"/>
              </a:solidFill>
              <a:latin typeface="Spline Sans Medium"/>
              <a:ea typeface="Spline Sans Medium"/>
              <a:cs typeface="Spline Sans Medium"/>
              <a:sym typeface="Spline Sans Medium"/>
            </a:endParaRPr>
          </a:p>
        </p:txBody>
      </p:sp>
      <p:grpSp>
        <p:nvGrpSpPr>
          <p:cNvPr id="232" name="Google Shape;232;p29"/>
          <p:cNvGrpSpPr/>
          <p:nvPr/>
        </p:nvGrpSpPr>
        <p:grpSpPr>
          <a:xfrm>
            <a:off x="273200" y="243675"/>
            <a:ext cx="8295218" cy="4777408"/>
            <a:chOff x="620283" y="-517579"/>
            <a:chExt cx="8295218" cy="4732919"/>
          </a:xfrm>
        </p:grpSpPr>
        <p:cxnSp>
          <p:nvCxnSpPr>
            <p:cNvPr id="233" name="Google Shape;233;p29"/>
            <p:cNvCxnSpPr/>
            <p:nvPr/>
          </p:nvCxnSpPr>
          <p:spPr>
            <a:xfrm>
              <a:off x="2399688" y="3466839"/>
              <a:ext cx="7500" cy="748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29"/>
            <p:cNvCxnSpPr/>
            <p:nvPr/>
          </p:nvCxnSpPr>
          <p:spPr>
            <a:xfrm>
              <a:off x="2399686" y="3238243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29"/>
            <p:cNvCxnSpPr/>
            <p:nvPr/>
          </p:nvCxnSpPr>
          <p:spPr>
            <a:xfrm>
              <a:off x="2296338" y="3352543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9"/>
            <p:cNvCxnSpPr/>
            <p:nvPr/>
          </p:nvCxnSpPr>
          <p:spPr>
            <a:xfrm>
              <a:off x="2377608" y="-517579"/>
              <a:ext cx="22200" cy="3755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9"/>
            <p:cNvCxnSpPr/>
            <p:nvPr/>
          </p:nvCxnSpPr>
          <p:spPr>
            <a:xfrm flipH="1" rot="10800000">
              <a:off x="620283" y="3352665"/>
              <a:ext cx="1676100" cy="213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9"/>
            <p:cNvCxnSpPr/>
            <p:nvPr/>
          </p:nvCxnSpPr>
          <p:spPr>
            <a:xfrm>
              <a:off x="2524901" y="3352550"/>
              <a:ext cx="6390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9" name="Google Shape;239;p29"/>
          <p:cNvSpPr txBox="1"/>
          <p:nvPr>
            <p:ph type="title"/>
          </p:nvPr>
        </p:nvSpPr>
        <p:spPr>
          <a:xfrm>
            <a:off x="2641600" y="2675126"/>
            <a:ext cx="6113400" cy="54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25400" marR="25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u(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x)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v(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y)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 −(∂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x)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+ 1/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∂</a:t>
            </a:r>
            <a:r>
              <a:rPr baseline="30000" lang="en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30000" lang="en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 ∂</a:t>
            </a:r>
            <a:r>
              <a:rPr baseline="30000" lang="en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30000" lang="en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4302850" y="1209025"/>
            <a:ext cx="22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uv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x</a:t>
            </a:r>
            <a:r>
              <a:rPr i="1" lang="en" sz="13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+vv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y​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= −p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y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+  1/Re ​(v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xx​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+v</a:t>
            </a:r>
            <a:r>
              <a:rPr baseline="-25000" i="1" lang="en" sz="15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yy</a:t>
            </a:r>
            <a:r>
              <a:rPr i="1" lang="en" sz="1200">
                <a:solidFill>
                  <a:schemeClr val="dk1"/>
                </a:solidFill>
                <a:latin typeface="Spline Sans Medium"/>
                <a:ea typeface="Spline Sans Medium"/>
                <a:cs typeface="Spline Sans Medium"/>
                <a:sym typeface="Spline Sans Medium"/>
              </a:rPr>
              <a:t>​) </a:t>
            </a:r>
            <a:endParaRPr i="1" sz="1200">
              <a:solidFill>
                <a:schemeClr val="dk1"/>
              </a:solidFill>
              <a:latin typeface="Spline Sans Medium"/>
              <a:ea typeface="Spline Sans Medium"/>
              <a:cs typeface="Spline Sans Medium"/>
              <a:sym typeface="Spline Sans Medium"/>
            </a:endParaRPr>
          </a:p>
        </p:txBody>
      </p:sp>
      <p:sp>
        <p:nvSpPr>
          <p:cNvPr id="241" name="Google Shape;241;p29"/>
          <p:cNvSpPr txBox="1"/>
          <p:nvPr>
            <p:ph type="title"/>
          </p:nvPr>
        </p:nvSpPr>
        <p:spPr>
          <a:xfrm>
            <a:off x="2641600" y="3258426"/>
            <a:ext cx="6113400" cy="54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25400" marR="25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u(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x)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v(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y)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 −(∂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y)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+ 1/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∂</a:t>
            </a:r>
            <a:r>
              <a:rPr baseline="30000" lang="en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 ∂</a:t>
            </a:r>
            <a:r>
              <a:rPr baseline="30000" lang="en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u/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∂</a:t>
            </a:r>
            <a:r>
              <a:rPr i="1"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30000" lang="en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9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 txBox="1"/>
          <p:nvPr>
            <p:ph idx="12" type="sldNum"/>
          </p:nvPr>
        </p:nvSpPr>
        <p:spPr>
          <a:xfrm>
            <a:off x="2612050" y="2018450"/>
            <a:ext cx="28593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Navier Stokes equation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/>
        </p:nvSpPr>
        <p:spPr>
          <a:xfrm>
            <a:off x="601325" y="4499900"/>
            <a:ext cx="1086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Spline Sans SemiBold"/>
                <a:ea typeface="Spline Sans SemiBold"/>
                <a:cs typeface="Spline Sans SemiBold"/>
                <a:sym typeface="Spline Sans SemiBold"/>
              </a:rPr>
              <a:t>Methodology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48" name="Google Shape;248;p30"/>
          <p:cNvSpPr txBox="1"/>
          <p:nvPr>
            <p:ph idx="2" type="title"/>
          </p:nvPr>
        </p:nvSpPr>
        <p:spPr>
          <a:xfrm>
            <a:off x="376575" y="256150"/>
            <a:ext cx="26991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ock"/>
                <a:ea typeface="Gloock"/>
                <a:cs typeface="Gloock"/>
                <a:sym typeface="Gloock"/>
              </a:rPr>
              <a:t>PINN architecture</a:t>
            </a:r>
            <a:endParaRPr sz="800">
              <a:latin typeface="Gloock"/>
              <a:ea typeface="Gloock"/>
              <a:cs typeface="Gloock"/>
              <a:sym typeface="Gloock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814350" y="2277206"/>
            <a:ext cx="556500" cy="484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0">
                <a:latin typeface="Spline Sans"/>
                <a:ea typeface="Spline Sans"/>
                <a:cs typeface="Spline Sans"/>
                <a:sym typeface="Spline Sans"/>
              </a:rPr>
              <a:t>x, y</a:t>
            </a:r>
            <a:endParaRPr sz="127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1723387" y="2111239"/>
            <a:ext cx="1258200" cy="81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0">
                <a:latin typeface="Spline Sans"/>
                <a:ea typeface="Spline Sans"/>
                <a:cs typeface="Spline Sans"/>
                <a:sym typeface="Spline Sans"/>
              </a:rPr>
              <a:t>Deep neural network</a:t>
            </a:r>
            <a:endParaRPr sz="1270"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70">
                <a:latin typeface="Spline Sans"/>
                <a:ea typeface="Spline Sans"/>
                <a:cs typeface="Spline Sans"/>
                <a:sym typeface="Spline Sans"/>
              </a:rPr>
              <a:t>(</a:t>
            </a:r>
            <a:r>
              <a:rPr i="1" lang="en" sz="1270">
                <a:latin typeface="Spline Sans"/>
                <a:ea typeface="Spline Sans"/>
                <a:cs typeface="Spline Sans"/>
                <a:sym typeface="Spline Sans"/>
              </a:rPr>
              <a:t>t</a:t>
            </a:r>
            <a:r>
              <a:rPr i="1" lang="en" sz="1270">
                <a:latin typeface="Spline Sans"/>
                <a:ea typeface="Spline Sans"/>
                <a:cs typeface="Spline Sans"/>
                <a:sym typeface="Spline Sans"/>
              </a:rPr>
              <a:t>anh + linear)</a:t>
            </a:r>
            <a:endParaRPr i="1" sz="127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3301625" y="846075"/>
            <a:ext cx="3224400" cy="9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0">
                <a:latin typeface="Spline Sans"/>
                <a:ea typeface="Spline Sans"/>
                <a:cs typeface="Spline Sans"/>
                <a:sym typeface="Spline Sans"/>
              </a:rPr>
              <a:t>Data matching </a:t>
            </a:r>
            <a:endParaRPr sz="1270"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0">
                <a:latin typeface="Spline Sans"/>
                <a:ea typeface="Spline Sans"/>
                <a:cs typeface="Spline Sans"/>
                <a:sym typeface="Spline Sans"/>
              </a:rPr>
              <a:t>(sparse measurement)</a:t>
            </a:r>
            <a:endParaRPr sz="1270"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70">
                <a:latin typeface="Spline Sans"/>
                <a:ea typeface="Spline Sans"/>
                <a:cs typeface="Spline Sans"/>
                <a:sym typeface="Spline Sans"/>
              </a:rPr>
              <a:t>Loss</a:t>
            </a:r>
            <a:r>
              <a:rPr baseline="-25000" i="1" lang="en" sz="1270">
                <a:latin typeface="Spline Sans"/>
                <a:ea typeface="Spline Sans"/>
                <a:cs typeface="Spline Sans"/>
                <a:sym typeface="Spline Sans"/>
              </a:rPr>
              <a:t>data</a:t>
            </a:r>
            <a:r>
              <a:rPr i="1" lang="en" sz="1270">
                <a:latin typeface="Spline Sans"/>
                <a:ea typeface="Spline Sans"/>
                <a:cs typeface="Spline Sans"/>
                <a:sym typeface="Spline Sans"/>
              </a:rPr>
              <a:t> = || u</a:t>
            </a:r>
            <a:r>
              <a:rPr baseline="-25000" i="1" lang="en" sz="1270">
                <a:latin typeface="Spline Sans"/>
                <a:ea typeface="Spline Sans"/>
                <a:cs typeface="Spline Sans"/>
                <a:sym typeface="Spline Sans"/>
              </a:rPr>
              <a:t>pred</a:t>
            </a:r>
            <a:r>
              <a:rPr i="1" lang="en" sz="1270">
                <a:latin typeface="Spline Sans"/>
                <a:ea typeface="Spline Sans"/>
                <a:cs typeface="Spline Sans"/>
                <a:sym typeface="Spline Sans"/>
              </a:rPr>
              <a:t> - u</a:t>
            </a:r>
            <a:r>
              <a:rPr baseline="-25000" i="1" lang="en" sz="1270">
                <a:latin typeface="Spline Sans"/>
                <a:ea typeface="Spline Sans"/>
                <a:cs typeface="Spline Sans"/>
                <a:sym typeface="Spline Sans"/>
              </a:rPr>
              <a:t>meas</a:t>
            </a:r>
            <a:r>
              <a:rPr i="1" lang="en" sz="1270">
                <a:latin typeface="Spline Sans"/>
                <a:ea typeface="Spline Sans"/>
                <a:cs typeface="Spline Sans"/>
                <a:sym typeface="Spline Sans"/>
              </a:rPr>
              <a:t> ||</a:t>
            </a:r>
            <a:r>
              <a:rPr baseline="30000" i="1" lang="en" sz="1270">
                <a:latin typeface="Spline Sans"/>
                <a:ea typeface="Spline Sans"/>
                <a:cs typeface="Spline Sans"/>
                <a:sym typeface="Spline Sans"/>
              </a:rPr>
              <a:t>2</a:t>
            </a:r>
            <a:r>
              <a:rPr baseline="30000" lang="en" sz="1270">
                <a:latin typeface="Spline Sans"/>
                <a:ea typeface="Spline Sans"/>
                <a:cs typeface="Spline Sans"/>
                <a:sym typeface="Spline Sans"/>
              </a:rPr>
              <a:t> </a:t>
            </a:r>
            <a:endParaRPr baseline="30000" sz="127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3294823" y="2111239"/>
            <a:ext cx="1367100" cy="81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0">
                <a:latin typeface="Spline Sans"/>
                <a:ea typeface="Spline Sans"/>
                <a:cs typeface="Spline Sans"/>
                <a:sym typeface="Spline Sans"/>
              </a:rPr>
              <a:t>Compute PDE</a:t>
            </a:r>
            <a:endParaRPr sz="127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5158562" y="2111239"/>
            <a:ext cx="1367100" cy="81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0">
                <a:latin typeface="Spline Sans"/>
                <a:ea typeface="Spline Sans"/>
                <a:cs typeface="Spline Sans"/>
                <a:sym typeface="Spline Sans"/>
              </a:rPr>
              <a:t>PDE residual</a:t>
            </a:r>
            <a:endParaRPr sz="127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3162725" y="3342700"/>
            <a:ext cx="3555000" cy="103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Boundary &amp; Initial Conditions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Spline Sans"/>
                <a:ea typeface="Spline Sans"/>
                <a:cs typeface="Spline Sans"/>
                <a:sym typeface="Spline Sans"/>
              </a:rPr>
              <a:t>Loss</a:t>
            </a:r>
            <a:r>
              <a:rPr baseline="-25000" i="1" lang="en">
                <a:latin typeface="Spline Sans"/>
                <a:ea typeface="Spline Sans"/>
                <a:cs typeface="Spline Sans"/>
                <a:sym typeface="Spline Sans"/>
              </a:rPr>
              <a:t>BC</a:t>
            </a:r>
            <a:r>
              <a:rPr i="1" lang="en">
                <a:latin typeface="Spline Sans"/>
                <a:ea typeface="Spline Sans"/>
                <a:cs typeface="Spline Sans"/>
                <a:sym typeface="Spline Sans"/>
              </a:rPr>
              <a:t> = || B [u] - b ||</a:t>
            </a:r>
            <a:r>
              <a:rPr baseline="30000" i="1" lang="en">
                <a:latin typeface="Spline Sans"/>
                <a:ea typeface="Spline Sans"/>
                <a:cs typeface="Spline Sans"/>
                <a:sym typeface="Spline Sans"/>
              </a:rPr>
              <a:t>2</a:t>
            </a:r>
            <a:r>
              <a:rPr baseline="30000" lang="en">
                <a:latin typeface="Spline Sans"/>
                <a:ea typeface="Spline Sans"/>
                <a:cs typeface="Spline Sans"/>
                <a:sym typeface="Spline Sans"/>
              </a:rPr>
              <a:t> </a:t>
            </a:r>
            <a:endParaRPr baseline="30000"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7022301" y="2111239"/>
            <a:ext cx="1258200" cy="81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00" lIns="82900" spcFirstLastPara="1" rIns="82900" wrap="square" tIns="8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0">
                <a:latin typeface="Spline Sans"/>
                <a:ea typeface="Spline Sans"/>
                <a:cs typeface="Spline Sans"/>
                <a:sym typeface="Spline Sans"/>
              </a:rPr>
              <a:t>Total Loss Function</a:t>
            </a:r>
            <a:endParaRPr sz="1270">
              <a:latin typeface="Spline Sans"/>
              <a:ea typeface="Spline Sans"/>
              <a:cs typeface="Spline Sans"/>
              <a:sym typeface="Spline Sans"/>
            </a:endParaRPr>
          </a:p>
        </p:txBody>
      </p:sp>
      <p:cxnSp>
        <p:nvCxnSpPr>
          <p:cNvPr id="256" name="Google Shape;256;p30"/>
          <p:cNvCxnSpPr>
            <a:stCxn id="249" idx="3"/>
            <a:endCxn id="250" idx="1"/>
          </p:cNvCxnSpPr>
          <p:nvPr/>
        </p:nvCxnSpPr>
        <p:spPr>
          <a:xfrm>
            <a:off x="1370850" y="2519456"/>
            <a:ext cx="352500" cy="0"/>
          </a:xfrm>
          <a:prstGeom prst="straightConnector1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0"/>
          <p:cNvCxnSpPr>
            <a:stCxn id="250" idx="0"/>
            <a:endCxn id="251" idx="1"/>
          </p:cNvCxnSpPr>
          <p:nvPr/>
        </p:nvCxnSpPr>
        <p:spPr>
          <a:xfrm rot="-5400000">
            <a:off x="2429137" y="1238689"/>
            <a:ext cx="795900" cy="949200"/>
          </a:xfrm>
          <a:prstGeom prst="bentConnector2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0"/>
          <p:cNvCxnSpPr>
            <a:stCxn id="250" idx="2"/>
            <a:endCxn id="254" idx="1"/>
          </p:cNvCxnSpPr>
          <p:nvPr/>
        </p:nvCxnSpPr>
        <p:spPr>
          <a:xfrm flipH="1" rot="-5400000">
            <a:off x="2291287" y="2988739"/>
            <a:ext cx="932700" cy="810300"/>
          </a:xfrm>
          <a:prstGeom prst="bentConnector2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0"/>
          <p:cNvCxnSpPr>
            <a:endCxn id="255" idx="0"/>
          </p:cNvCxnSpPr>
          <p:nvPr/>
        </p:nvCxnSpPr>
        <p:spPr>
          <a:xfrm>
            <a:off x="6546801" y="1293139"/>
            <a:ext cx="1104600" cy="818100"/>
          </a:xfrm>
          <a:prstGeom prst="bentConnector2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0"/>
          <p:cNvCxnSpPr>
            <a:endCxn id="255" idx="2"/>
          </p:cNvCxnSpPr>
          <p:nvPr/>
        </p:nvCxnSpPr>
        <p:spPr>
          <a:xfrm flipH="1" rot="10800000">
            <a:off x="6546801" y="2927539"/>
            <a:ext cx="1104600" cy="805200"/>
          </a:xfrm>
          <a:prstGeom prst="bentConnector2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0"/>
          <p:cNvCxnSpPr>
            <a:stCxn id="250" idx="3"/>
            <a:endCxn id="252" idx="1"/>
          </p:cNvCxnSpPr>
          <p:nvPr/>
        </p:nvCxnSpPr>
        <p:spPr>
          <a:xfrm>
            <a:off x="2981587" y="2519389"/>
            <a:ext cx="313200" cy="0"/>
          </a:xfrm>
          <a:prstGeom prst="straightConnector1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0"/>
          <p:cNvCxnSpPr>
            <a:stCxn id="252" idx="3"/>
            <a:endCxn id="253" idx="1"/>
          </p:cNvCxnSpPr>
          <p:nvPr/>
        </p:nvCxnSpPr>
        <p:spPr>
          <a:xfrm>
            <a:off x="4661923" y="2519389"/>
            <a:ext cx="496500" cy="0"/>
          </a:xfrm>
          <a:prstGeom prst="straightConnector1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0"/>
          <p:cNvCxnSpPr>
            <a:stCxn id="253" idx="3"/>
            <a:endCxn id="255" idx="1"/>
          </p:cNvCxnSpPr>
          <p:nvPr/>
        </p:nvCxnSpPr>
        <p:spPr>
          <a:xfrm>
            <a:off x="6525662" y="2519389"/>
            <a:ext cx="496500" cy="0"/>
          </a:xfrm>
          <a:prstGeom prst="straightConnector1">
            <a:avLst/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0"/>
          <p:cNvCxnSpPr>
            <a:endCxn id="250" idx="1"/>
          </p:cNvCxnSpPr>
          <p:nvPr/>
        </p:nvCxnSpPr>
        <p:spPr>
          <a:xfrm rot="10800000">
            <a:off x="1723387" y="2519389"/>
            <a:ext cx="6536100" cy="22200"/>
          </a:xfrm>
          <a:prstGeom prst="curvedConnector5">
            <a:avLst>
              <a:gd fmla="val -3246" name="adj1"/>
              <a:gd fmla="val -9545547" name="adj2"/>
              <a:gd fmla="val 103304" name="adj3"/>
            </a:avLst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30"/>
          <p:cNvSpPr txBox="1"/>
          <p:nvPr/>
        </p:nvSpPr>
        <p:spPr>
          <a:xfrm>
            <a:off x="5268075" y="4660750"/>
            <a:ext cx="28971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Backward propagation and weight updation</a:t>
            </a:r>
            <a:endParaRPr sz="10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/>
        </p:nvSpPr>
        <p:spPr>
          <a:xfrm>
            <a:off x="601325" y="4492525"/>
            <a:ext cx="10860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Spline Sans SemiBold"/>
                <a:ea typeface="Spline Sans SemiBold"/>
                <a:cs typeface="Spline Sans SemiBold"/>
                <a:sym typeface="Spline Sans SemiBold"/>
              </a:rPr>
              <a:t>Methodology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71" name="Google Shape;271;p31"/>
          <p:cNvSpPr txBox="1"/>
          <p:nvPr>
            <p:ph idx="2" type="title"/>
          </p:nvPr>
        </p:nvSpPr>
        <p:spPr>
          <a:xfrm>
            <a:off x="601325" y="1336150"/>
            <a:ext cx="16836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ock"/>
                <a:ea typeface="Gloock"/>
                <a:cs typeface="Gloock"/>
                <a:sym typeface="Gloock"/>
              </a:rPr>
              <a:t>training </a:t>
            </a:r>
            <a:endParaRPr sz="800">
              <a:latin typeface="Gloock"/>
              <a:ea typeface="Gloock"/>
              <a:cs typeface="Gloock"/>
              <a:sym typeface="Gloock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2524950" y="908875"/>
            <a:ext cx="50388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Optimiser                                         : adam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Initial learning rate 		: 0.001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Epochs 			: 15,000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StepL scheduler halves learning rate every 5000 epochs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Gradient clipping with max norm 1.0 for stabilty 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73" name="Google Shape;273;p31"/>
          <p:cNvSpPr txBox="1"/>
          <p:nvPr>
            <p:ph idx="2" type="title"/>
          </p:nvPr>
        </p:nvSpPr>
        <p:spPr>
          <a:xfrm>
            <a:off x="601325" y="2746725"/>
            <a:ext cx="16836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loock"/>
                <a:ea typeface="Gloock"/>
                <a:cs typeface="Gloock"/>
                <a:sym typeface="Gloock"/>
              </a:rPr>
              <a:t>Loss  func.</a:t>
            </a:r>
            <a:endParaRPr sz="800">
              <a:latin typeface="Gloock"/>
              <a:ea typeface="Gloock"/>
              <a:cs typeface="Gloock"/>
              <a:sym typeface="Gloock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2690950" y="2780300"/>
            <a:ext cx="5315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L (ፀ) = λ</a:t>
            </a:r>
            <a:r>
              <a:rPr baseline="-25000"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d</a:t>
            </a:r>
            <a:r>
              <a:rPr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 * Loss</a:t>
            </a:r>
            <a:r>
              <a:rPr baseline="-25000"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data </a:t>
            </a:r>
            <a:r>
              <a:rPr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 +  </a:t>
            </a:r>
            <a:r>
              <a:rPr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λ</a:t>
            </a:r>
            <a:r>
              <a:rPr baseline="-25000"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p</a:t>
            </a:r>
            <a:r>
              <a:rPr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* LossPDE  +  λ</a:t>
            </a:r>
            <a:r>
              <a:rPr baseline="-25000"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b</a:t>
            </a:r>
            <a:r>
              <a:rPr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* Loss</a:t>
            </a:r>
            <a:r>
              <a:rPr baseline="-25000" lang="en" sz="18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BC</a:t>
            </a:r>
            <a:endParaRPr baseline="-25000" sz="18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290850" y="221325"/>
            <a:ext cx="2684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Flow Diagram</a:t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421725" y="1003400"/>
            <a:ext cx="821700" cy="64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Input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(x,y)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1526625" y="1003400"/>
            <a:ext cx="821700" cy="64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PINNs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2" name="Google Shape;282;p32"/>
          <p:cNvSpPr/>
          <p:nvPr/>
        </p:nvSpPr>
        <p:spPr>
          <a:xfrm>
            <a:off x="2763000" y="665300"/>
            <a:ext cx="923400" cy="132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u(x,y)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v(x,y)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p(x,y)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2712075" y="2079500"/>
            <a:ext cx="1083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Predicted field</a:t>
            </a:r>
            <a:endParaRPr sz="10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4101075" y="1003400"/>
            <a:ext cx="1570200" cy="64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Automated differentiation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5" name="Google Shape;285;p32"/>
          <p:cNvSpPr/>
          <p:nvPr/>
        </p:nvSpPr>
        <p:spPr>
          <a:xfrm>
            <a:off x="6085950" y="665300"/>
            <a:ext cx="1526700" cy="132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Compute PDE residuals:</a:t>
            </a:r>
            <a:endParaRPr sz="13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- Continuity</a:t>
            </a:r>
            <a:endParaRPr sz="11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- x-momentum</a:t>
            </a:r>
            <a:endParaRPr sz="11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- y-momentum</a:t>
            </a:r>
            <a:endParaRPr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7321775" y="2697525"/>
            <a:ext cx="1410600" cy="116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Apply boundary </a:t>
            </a: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condition</a:t>
            </a: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 on walls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5889125" y="2904675"/>
            <a:ext cx="967500" cy="74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Total Loss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8" name="Google Shape;288;p32"/>
          <p:cNvSpPr/>
          <p:nvPr/>
        </p:nvSpPr>
        <p:spPr>
          <a:xfrm>
            <a:off x="3984325" y="2617575"/>
            <a:ext cx="1526700" cy="132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Backpropagation + Adam optimizer + LR scheduler</a:t>
            </a:r>
            <a:endParaRPr sz="13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89" name="Google Shape;289;p32"/>
          <p:cNvSpPr/>
          <p:nvPr/>
        </p:nvSpPr>
        <p:spPr>
          <a:xfrm>
            <a:off x="2544825" y="2904675"/>
            <a:ext cx="1061400" cy="74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line Sans"/>
                <a:ea typeface="Spline Sans"/>
                <a:cs typeface="Spline Sans"/>
                <a:sym typeface="Spline Sans"/>
              </a:rPr>
              <a:t>Trained model</a:t>
            </a:r>
            <a:endParaRPr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378100" y="2562975"/>
            <a:ext cx="1890300" cy="143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Post-processing:</a:t>
            </a:r>
            <a:endParaRPr sz="13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0" lvl="0" marL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velocity magnitude, streamlines, pressure, vorticity, GIF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</p:txBody>
      </p:sp>
      <p:cxnSp>
        <p:nvCxnSpPr>
          <p:cNvPr id="291" name="Google Shape;291;p32"/>
          <p:cNvCxnSpPr>
            <a:stCxn id="285" idx="3"/>
            <a:endCxn id="286" idx="3"/>
          </p:cNvCxnSpPr>
          <p:nvPr/>
        </p:nvCxnSpPr>
        <p:spPr>
          <a:xfrm>
            <a:off x="7612650" y="1326950"/>
            <a:ext cx="1119600" cy="1952400"/>
          </a:xfrm>
          <a:prstGeom prst="curvedConnector3">
            <a:avLst>
              <a:gd fmla="val 12128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2"/>
          <p:cNvCxnSpPr>
            <a:stCxn id="280" idx="3"/>
            <a:endCxn id="281" idx="1"/>
          </p:cNvCxnSpPr>
          <p:nvPr/>
        </p:nvCxnSpPr>
        <p:spPr>
          <a:xfrm>
            <a:off x="1243425" y="1326950"/>
            <a:ext cx="28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2"/>
          <p:cNvCxnSpPr>
            <a:stCxn id="281" idx="3"/>
            <a:endCxn id="282" idx="1"/>
          </p:cNvCxnSpPr>
          <p:nvPr/>
        </p:nvCxnSpPr>
        <p:spPr>
          <a:xfrm>
            <a:off x="2348325" y="1326950"/>
            <a:ext cx="4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2"/>
          <p:cNvCxnSpPr>
            <a:stCxn id="282" idx="3"/>
            <a:endCxn id="284" idx="1"/>
          </p:cNvCxnSpPr>
          <p:nvPr/>
        </p:nvCxnSpPr>
        <p:spPr>
          <a:xfrm>
            <a:off x="3686400" y="1326950"/>
            <a:ext cx="4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2"/>
          <p:cNvCxnSpPr>
            <a:stCxn id="284" idx="3"/>
            <a:endCxn id="285" idx="1"/>
          </p:cNvCxnSpPr>
          <p:nvPr/>
        </p:nvCxnSpPr>
        <p:spPr>
          <a:xfrm>
            <a:off x="5671275" y="1326950"/>
            <a:ext cx="41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2"/>
          <p:cNvCxnSpPr>
            <a:stCxn id="286" idx="1"/>
            <a:endCxn id="287" idx="3"/>
          </p:cNvCxnSpPr>
          <p:nvPr/>
        </p:nvCxnSpPr>
        <p:spPr>
          <a:xfrm rot="10800000">
            <a:off x="6856475" y="3279225"/>
            <a:ext cx="46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2"/>
          <p:cNvCxnSpPr>
            <a:stCxn id="287" idx="1"/>
            <a:endCxn id="288" idx="3"/>
          </p:cNvCxnSpPr>
          <p:nvPr/>
        </p:nvCxnSpPr>
        <p:spPr>
          <a:xfrm rot="10800000">
            <a:off x="5511125" y="3279225"/>
            <a:ext cx="37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2"/>
          <p:cNvCxnSpPr>
            <a:stCxn id="288" idx="1"/>
            <a:endCxn id="289" idx="3"/>
          </p:cNvCxnSpPr>
          <p:nvPr/>
        </p:nvCxnSpPr>
        <p:spPr>
          <a:xfrm rot="10800000">
            <a:off x="3606325" y="3279225"/>
            <a:ext cx="37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2"/>
          <p:cNvCxnSpPr>
            <a:stCxn id="289" idx="1"/>
            <a:endCxn id="290" idx="3"/>
          </p:cNvCxnSpPr>
          <p:nvPr/>
        </p:nvCxnSpPr>
        <p:spPr>
          <a:xfrm rot="10800000">
            <a:off x="2268525" y="3279225"/>
            <a:ext cx="27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 txBox="1"/>
          <p:nvPr>
            <p:ph type="title"/>
          </p:nvPr>
        </p:nvSpPr>
        <p:spPr>
          <a:xfrm>
            <a:off x="228600" y="166675"/>
            <a:ext cx="1366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 I S U A L I S A T I O N</a:t>
            </a:r>
            <a:endParaRPr sz="1000"/>
          </a:p>
        </p:txBody>
      </p:sp>
      <p:pic>
        <p:nvPicPr>
          <p:cNvPr id="305" name="Google Shape;305;p33" title="Pinn Train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538" y="560275"/>
            <a:ext cx="6976918" cy="44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3"/>
          <p:cNvSpPr txBox="1"/>
          <p:nvPr>
            <p:ph idx="12" type="sldNum"/>
          </p:nvPr>
        </p:nvSpPr>
        <p:spPr>
          <a:xfrm>
            <a:off x="4058400" y="166675"/>
            <a:ext cx="10272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training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idx="12" type="sldNum"/>
          </p:nvPr>
        </p:nvSpPr>
        <p:spPr>
          <a:xfrm>
            <a:off x="266391" y="1601275"/>
            <a:ext cx="1086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vorticity</a:t>
            </a:r>
            <a:endParaRPr/>
          </a:p>
        </p:txBody>
      </p:sp>
      <p:pic>
        <p:nvPicPr>
          <p:cNvPr id="312" name="Google Shape;312;p34" title="vorticit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300" y="423325"/>
            <a:ext cx="4582175" cy="44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4"/>
          <p:cNvSpPr txBox="1"/>
          <p:nvPr>
            <p:ph type="title"/>
          </p:nvPr>
        </p:nvSpPr>
        <p:spPr>
          <a:xfrm>
            <a:off x="228600" y="166675"/>
            <a:ext cx="13665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 I S U A L I S A T I O N</a:t>
            </a:r>
            <a:endParaRPr sz="1000"/>
          </a:p>
        </p:txBody>
      </p:sp>
      <p:sp>
        <p:nvSpPr>
          <p:cNvPr id="314" name="Google Shape;314;p34"/>
          <p:cNvSpPr txBox="1"/>
          <p:nvPr/>
        </p:nvSpPr>
        <p:spPr>
          <a:xfrm>
            <a:off x="266400" y="2242025"/>
            <a:ext cx="25626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Vorticity highlights strong shear near walls and recirculation zones. </a:t>
            </a:r>
            <a:endParaRPr sz="13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/>
          <p:nvPr>
            <p:ph idx="12" type="sldNum"/>
          </p:nvPr>
        </p:nvSpPr>
        <p:spPr>
          <a:xfrm>
            <a:off x="266410" y="1601275"/>
            <a:ext cx="2371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PiNN final prediction</a:t>
            </a:r>
            <a:endParaRPr/>
          </a:p>
        </p:txBody>
      </p:sp>
      <p:sp>
        <p:nvSpPr>
          <p:cNvPr id="320" name="Google Shape;320;p35"/>
          <p:cNvSpPr txBox="1"/>
          <p:nvPr>
            <p:ph type="title"/>
          </p:nvPr>
        </p:nvSpPr>
        <p:spPr>
          <a:xfrm>
            <a:off x="228600" y="166675"/>
            <a:ext cx="13665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 I S U A L I S A T I O N</a:t>
            </a:r>
            <a:endParaRPr sz="1000"/>
          </a:p>
        </p:txBody>
      </p:sp>
      <p:sp>
        <p:nvSpPr>
          <p:cNvPr id="321" name="Google Shape;321;p35"/>
          <p:cNvSpPr txBox="1"/>
          <p:nvPr/>
        </p:nvSpPr>
        <p:spPr>
          <a:xfrm>
            <a:off x="266400" y="2242025"/>
            <a:ext cx="25626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Pressure field captures spatial pressure variation coupled to the velocity solution. </a:t>
            </a:r>
            <a:endParaRPr sz="13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pic>
        <p:nvPicPr>
          <p:cNvPr id="322" name="Google Shape;322;p35" title="pinn final fiel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400" y="152400"/>
            <a:ext cx="58456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type="title"/>
          </p:nvPr>
        </p:nvSpPr>
        <p:spPr>
          <a:xfrm>
            <a:off x="282150" y="192295"/>
            <a:ext cx="27315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Losses during Epochs</a:t>
            </a:r>
            <a:endParaRPr sz="1300"/>
          </a:p>
        </p:txBody>
      </p:sp>
      <p:sp>
        <p:nvSpPr>
          <p:cNvPr id="328" name="Google Shape;328;p36"/>
          <p:cNvSpPr txBox="1"/>
          <p:nvPr>
            <p:ph idx="1" type="subTitle"/>
          </p:nvPr>
        </p:nvSpPr>
        <p:spPr>
          <a:xfrm>
            <a:off x="792150" y="1999075"/>
            <a:ext cx="7559700" cy="14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 epoch 500, total loss was about 1.67×10</a:t>
            </a:r>
            <a:r>
              <a:rPr baseline="30000" lang="en"/>
              <a:t>−1</a:t>
            </a:r>
            <a:endParaRPr baseline="30000"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By epoch 14,500, total loss dropped to about 1.98×10</a:t>
            </a:r>
            <a:r>
              <a:rPr baseline="30000" lang="en"/>
              <a:t>−2</a:t>
            </a:r>
            <a:r>
              <a:rPr lang="en"/>
              <a:t>.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 epoch 15,000, total loss was about 4.84×10</a:t>
            </a:r>
            <a:r>
              <a:rPr baseline="30000" lang="en"/>
              <a:t>−2</a:t>
            </a:r>
            <a:r>
              <a:rPr lang="en"/>
              <a:t>, </a:t>
            </a:r>
            <a:endParaRPr/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showing some fluctuation near the end</a:t>
            </a:r>
            <a:endParaRPr/>
          </a:p>
        </p:txBody>
      </p:sp>
      <p:sp>
        <p:nvSpPr>
          <p:cNvPr id="329" name="Google Shape;329;p36"/>
          <p:cNvSpPr txBox="1"/>
          <p:nvPr>
            <p:ph idx="12" type="sldNum"/>
          </p:nvPr>
        </p:nvSpPr>
        <p:spPr>
          <a:xfrm>
            <a:off x="282140" y="931650"/>
            <a:ext cx="2981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Loss  during training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/>
          <p:nvPr>
            <p:ph idx="12" type="sldNum"/>
          </p:nvPr>
        </p:nvSpPr>
        <p:spPr>
          <a:xfrm>
            <a:off x="266410" y="1601275"/>
            <a:ext cx="2371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Centerline velocity</a:t>
            </a:r>
            <a:endParaRPr/>
          </a:p>
        </p:txBody>
      </p:sp>
      <p:sp>
        <p:nvSpPr>
          <p:cNvPr id="335" name="Google Shape;335;p37"/>
          <p:cNvSpPr txBox="1"/>
          <p:nvPr>
            <p:ph type="title"/>
          </p:nvPr>
        </p:nvSpPr>
        <p:spPr>
          <a:xfrm>
            <a:off x="228600" y="166675"/>
            <a:ext cx="13665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 I S U A L I S A T I O N</a:t>
            </a:r>
            <a:endParaRPr sz="1000"/>
          </a:p>
        </p:txBody>
      </p:sp>
      <p:sp>
        <p:nvSpPr>
          <p:cNvPr id="336" name="Google Shape;336;p37"/>
          <p:cNvSpPr txBox="1"/>
          <p:nvPr/>
        </p:nvSpPr>
        <p:spPr>
          <a:xfrm>
            <a:off x="266400" y="2075725"/>
            <a:ext cx="25626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The fluctuating late-stage loss suggests optimization difficulty, which is common in PINNs for stiff or high-Reynolds-number flows. </a:t>
            </a:r>
            <a:endParaRPr sz="13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pic>
        <p:nvPicPr>
          <p:cNvPr id="337" name="Google Shape;337;p37" title="pin Centerline valid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725" y="152400"/>
            <a:ext cx="414076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38"/>
          <p:cNvGrpSpPr/>
          <p:nvPr/>
        </p:nvGrpSpPr>
        <p:grpSpPr>
          <a:xfrm>
            <a:off x="212925" y="228598"/>
            <a:ext cx="8692805" cy="4691205"/>
            <a:chOff x="212925" y="228598"/>
            <a:chExt cx="8692805" cy="4691205"/>
          </a:xfrm>
        </p:grpSpPr>
        <p:cxnSp>
          <p:nvCxnSpPr>
            <p:cNvPr id="343" name="Google Shape;343;p38"/>
            <p:cNvCxnSpPr/>
            <p:nvPr/>
          </p:nvCxnSpPr>
          <p:spPr>
            <a:xfrm>
              <a:off x="4568175" y="3468102"/>
              <a:ext cx="0" cy="1451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38"/>
            <p:cNvCxnSpPr/>
            <p:nvPr/>
          </p:nvCxnSpPr>
          <p:spPr>
            <a:xfrm>
              <a:off x="4568175" y="3239507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38"/>
            <p:cNvCxnSpPr/>
            <p:nvPr/>
          </p:nvCxnSpPr>
          <p:spPr>
            <a:xfrm>
              <a:off x="4464827" y="3353807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38"/>
            <p:cNvCxnSpPr/>
            <p:nvPr/>
          </p:nvCxnSpPr>
          <p:spPr>
            <a:xfrm>
              <a:off x="4568175" y="228598"/>
              <a:ext cx="0" cy="3010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38"/>
            <p:cNvCxnSpPr/>
            <p:nvPr/>
          </p:nvCxnSpPr>
          <p:spPr>
            <a:xfrm>
              <a:off x="212925" y="3353807"/>
              <a:ext cx="4251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38"/>
            <p:cNvCxnSpPr/>
            <p:nvPr/>
          </p:nvCxnSpPr>
          <p:spPr>
            <a:xfrm>
              <a:off x="4693430" y="3353807"/>
              <a:ext cx="4212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9" name="Google Shape;349;p38"/>
          <p:cNvSpPr txBox="1"/>
          <p:nvPr>
            <p:ph type="title"/>
          </p:nvPr>
        </p:nvSpPr>
        <p:spPr>
          <a:xfrm>
            <a:off x="228600" y="210308"/>
            <a:ext cx="32565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GAPS &amp; LIMITATIONS.</a:t>
            </a:r>
            <a:endParaRPr/>
          </a:p>
        </p:txBody>
      </p:sp>
      <p:sp>
        <p:nvSpPr>
          <p:cNvPr id="350" name="Google Shape;350;p38"/>
          <p:cNvSpPr txBox="1"/>
          <p:nvPr>
            <p:ph idx="1" type="subTitle"/>
          </p:nvPr>
        </p:nvSpPr>
        <p:spPr>
          <a:xfrm>
            <a:off x="355300" y="2193425"/>
            <a:ext cx="35832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project solves a steady 2D cavity case only, so it does not capture full transient or 3D turbulence behavior. </a:t>
            </a:r>
            <a:endParaRPr/>
          </a:p>
        </p:txBody>
      </p:sp>
      <p:sp>
        <p:nvSpPr>
          <p:cNvPr id="351" name="Google Shape;351;p38"/>
          <p:cNvSpPr txBox="1"/>
          <p:nvPr>
            <p:ph idx="2" type="subTitle"/>
          </p:nvPr>
        </p:nvSpPr>
        <p:spPr>
          <a:xfrm>
            <a:off x="355300" y="1825637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restriction</a:t>
            </a:r>
            <a:endParaRPr/>
          </a:p>
        </p:txBody>
      </p:sp>
      <p:sp>
        <p:nvSpPr>
          <p:cNvPr id="352" name="Google Shape;352;p38"/>
          <p:cNvSpPr txBox="1"/>
          <p:nvPr>
            <p:ph idx="3" type="subTitle"/>
          </p:nvPr>
        </p:nvSpPr>
        <p:spPr>
          <a:xfrm>
            <a:off x="355300" y="4066725"/>
            <a:ext cx="37725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benchmark comparison with Ghia et al. centerline velocity profiles or CFD reference data is included in the notebook, so quantitative accuracy is not fully validated. </a:t>
            </a:r>
            <a:endParaRPr/>
          </a:p>
        </p:txBody>
      </p:sp>
      <p:sp>
        <p:nvSpPr>
          <p:cNvPr id="353" name="Google Shape;353;p38"/>
          <p:cNvSpPr txBox="1"/>
          <p:nvPr>
            <p:ph idx="4" type="subTitle"/>
          </p:nvPr>
        </p:nvSpPr>
        <p:spPr>
          <a:xfrm>
            <a:off x="355300" y="3591401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Reference</a:t>
            </a:r>
            <a:endParaRPr/>
          </a:p>
        </p:txBody>
      </p:sp>
      <p:sp>
        <p:nvSpPr>
          <p:cNvPr id="354" name="Google Shape;354;p38"/>
          <p:cNvSpPr txBox="1"/>
          <p:nvPr>
            <p:ph idx="5" type="subTitle"/>
          </p:nvPr>
        </p:nvSpPr>
        <p:spPr>
          <a:xfrm>
            <a:off x="4981725" y="2193425"/>
            <a:ext cx="38808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Reynolds number 1000 is challenging for PINNs; high-Re flows are known to cause local minima, stagnation, and poor recovery of sharp boundary-layer structures </a:t>
            </a:r>
            <a:endParaRPr/>
          </a:p>
        </p:txBody>
      </p:sp>
      <p:sp>
        <p:nvSpPr>
          <p:cNvPr id="355" name="Google Shape;355;p38"/>
          <p:cNvSpPr txBox="1"/>
          <p:nvPr>
            <p:ph idx="6" type="subTitle"/>
          </p:nvPr>
        </p:nvSpPr>
        <p:spPr>
          <a:xfrm>
            <a:off x="4981725" y="1825637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Reynolds number</a:t>
            </a:r>
            <a:endParaRPr/>
          </a:p>
        </p:txBody>
      </p:sp>
      <p:sp>
        <p:nvSpPr>
          <p:cNvPr id="356" name="Google Shape;356;p38"/>
          <p:cNvSpPr txBox="1"/>
          <p:nvPr>
            <p:ph idx="7" type="subTitle"/>
          </p:nvPr>
        </p:nvSpPr>
        <p:spPr>
          <a:xfrm>
            <a:off x="4981725" y="4066725"/>
            <a:ext cx="38313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Pressure boundary treatment is implicit, which may affect robustness depending on formulation </a:t>
            </a:r>
            <a:endParaRPr/>
          </a:p>
        </p:txBody>
      </p:sp>
      <p:sp>
        <p:nvSpPr>
          <p:cNvPr id="357" name="Google Shape;357;p38"/>
          <p:cNvSpPr txBox="1"/>
          <p:nvPr>
            <p:ph idx="8" type="subTitle"/>
          </p:nvPr>
        </p:nvSpPr>
        <p:spPr>
          <a:xfrm>
            <a:off x="4981725" y="3591401"/>
            <a:ext cx="2170800" cy="4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Pressure Boundary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9"/>
          <p:cNvGrpSpPr/>
          <p:nvPr/>
        </p:nvGrpSpPr>
        <p:grpSpPr>
          <a:xfrm>
            <a:off x="380300" y="408200"/>
            <a:ext cx="8383399" cy="4495900"/>
            <a:chOff x="1360725" y="-814300"/>
            <a:chExt cx="8383399" cy="4495900"/>
          </a:xfrm>
        </p:grpSpPr>
        <p:cxnSp>
          <p:nvCxnSpPr>
            <p:cNvPr id="363" name="Google Shape;363;p39"/>
            <p:cNvCxnSpPr/>
            <p:nvPr/>
          </p:nvCxnSpPr>
          <p:spPr>
            <a:xfrm flipH="1">
              <a:off x="3492582" y="2683800"/>
              <a:ext cx="1500" cy="997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39"/>
            <p:cNvCxnSpPr/>
            <p:nvPr/>
          </p:nvCxnSpPr>
          <p:spPr>
            <a:xfrm>
              <a:off x="3494075" y="2455200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39"/>
            <p:cNvCxnSpPr/>
            <p:nvPr/>
          </p:nvCxnSpPr>
          <p:spPr>
            <a:xfrm>
              <a:off x="3390727" y="2569500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39"/>
            <p:cNvCxnSpPr/>
            <p:nvPr/>
          </p:nvCxnSpPr>
          <p:spPr>
            <a:xfrm>
              <a:off x="3469825" y="-814300"/>
              <a:ext cx="24300" cy="3269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39"/>
            <p:cNvCxnSpPr/>
            <p:nvPr/>
          </p:nvCxnSpPr>
          <p:spPr>
            <a:xfrm flipH="1" rot="10800000">
              <a:off x="1360725" y="2569425"/>
              <a:ext cx="2029800" cy="10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" name="Google Shape;368;p39"/>
            <p:cNvCxnSpPr/>
            <p:nvPr/>
          </p:nvCxnSpPr>
          <p:spPr>
            <a:xfrm>
              <a:off x="3619324" y="2569500"/>
              <a:ext cx="6124800" cy="3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9" name="Google Shape;369;p39"/>
          <p:cNvSpPr txBox="1"/>
          <p:nvPr>
            <p:ph idx="1" type="subTitle"/>
          </p:nvPr>
        </p:nvSpPr>
        <p:spPr>
          <a:xfrm>
            <a:off x="228600" y="228600"/>
            <a:ext cx="2169900" cy="4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U T U R E       S C O P E</a:t>
            </a:r>
            <a:endParaRPr/>
          </a:p>
        </p:txBody>
      </p:sp>
      <p:sp>
        <p:nvSpPr>
          <p:cNvPr id="370" name="Google Shape;370;p39"/>
          <p:cNvSpPr txBox="1"/>
          <p:nvPr>
            <p:ph idx="12" type="sldNum"/>
          </p:nvPr>
        </p:nvSpPr>
        <p:spPr>
          <a:xfrm>
            <a:off x="228600" y="883350"/>
            <a:ext cx="20289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Where can we go further from here??</a:t>
            </a:r>
            <a:endParaRPr sz="2700"/>
          </a:p>
        </p:txBody>
      </p:sp>
      <p:sp>
        <p:nvSpPr>
          <p:cNvPr id="371" name="Google Shape;371;p39"/>
          <p:cNvSpPr txBox="1"/>
          <p:nvPr>
            <p:ph idx="4294967295" type="subTitle"/>
          </p:nvPr>
        </p:nvSpPr>
        <p:spPr>
          <a:xfrm>
            <a:off x="342900" y="4458511"/>
            <a:ext cx="2572800" cy="354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Spline Sans SemiBold"/>
                <a:ea typeface="Spline Sans SemiBold"/>
                <a:cs typeface="Spline Sans SemiBold"/>
                <a:sym typeface="Spline Sans SemiBold"/>
              </a:rPr>
              <a:t>future</a:t>
            </a:r>
            <a:endParaRPr sz="1000">
              <a:solidFill>
                <a:schemeClr val="accent1"/>
              </a:solidFill>
              <a:latin typeface="Spline Sans SemiBold"/>
              <a:ea typeface="Spline Sans SemiBold"/>
              <a:cs typeface="Spline Sans SemiBold"/>
              <a:sym typeface="Spline Sans SemiBold"/>
            </a:endParaRPr>
          </a:p>
        </p:txBody>
      </p:sp>
      <p:sp>
        <p:nvSpPr>
          <p:cNvPr id="372" name="Google Shape;372;p39"/>
          <p:cNvSpPr txBox="1"/>
          <p:nvPr/>
        </p:nvSpPr>
        <p:spPr>
          <a:xfrm>
            <a:off x="3023825" y="612325"/>
            <a:ext cx="5151000" cy="28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Compare predictions with benchmark cavity-flow profiles from Ghia et al. for quantitative validation.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Test multiple Reynolds numbers such as 100, 400, and 1000.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Explore improved PINN strategies such as adaptive loss weighting, domain decomposition, Fourier features, or re-initialization methods for stiff flows.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line Sans"/>
              <a:buChar char="●"/>
            </a:pPr>
            <a:r>
              <a:rPr lang="en" sz="12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rPr>
              <a:t>Extend from steady 2D flow to transient or 3D flow problems.</a:t>
            </a:r>
            <a:endParaRPr sz="12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pline Sans"/>
              <a:buChar char="●"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Extend to 3D or more complex geometries 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line Sans"/>
              <a:buChar char="●"/>
            </a:pPr>
            <a:r>
              <a:rPr lang="en" sz="1200">
                <a:latin typeface="Spline Sans"/>
                <a:ea typeface="Spline Sans"/>
                <a:cs typeface="Spline Sans"/>
                <a:sym typeface="Spline Sans"/>
              </a:rPr>
              <a:t>Combine physics-based learning with sparse real or CFD data for higher accuracy</a:t>
            </a:r>
            <a:endParaRPr sz="1200">
              <a:latin typeface="Spline Sans"/>
              <a:ea typeface="Spline Sans"/>
              <a:cs typeface="Spline Sans"/>
              <a:sym typeface="Spline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/>
          <p:cNvSpPr txBox="1"/>
          <p:nvPr>
            <p:ph type="title"/>
          </p:nvPr>
        </p:nvSpPr>
        <p:spPr>
          <a:xfrm>
            <a:off x="243698" y="236550"/>
            <a:ext cx="3800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YOU.</a:t>
            </a:r>
            <a:endParaRPr/>
          </a:p>
        </p:txBody>
      </p:sp>
      <p:sp>
        <p:nvSpPr>
          <p:cNvPr id="378" name="Google Shape;378;p40"/>
          <p:cNvSpPr txBox="1"/>
          <p:nvPr>
            <p:ph idx="4294967295" type="subTitle"/>
          </p:nvPr>
        </p:nvSpPr>
        <p:spPr>
          <a:xfrm>
            <a:off x="2925550" y="2010825"/>
            <a:ext cx="18066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Do you have any</a:t>
            </a:r>
            <a:endParaRPr i="1" sz="1500"/>
          </a:p>
        </p:txBody>
      </p:sp>
      <p:grpSp>
        <p:nvGrpSpPr>
          <p:cNvPr id="379" name="Google Shape;379;p40"/>
          <p:cNvGrpSpPr/>
          <p:nvPr/>
        </p:nvGrpSpPr>
        <p:grpSpPr>
          <a:xfrm>
            <a:off x="225600" y="234300"/>
            <a:ext cx="8692805" cy="4674900"/>
            <a:chOff x="212925" y="236550"/>
            <a:chExt cx="8692805" cy="4674900"/>
          </a:xfrm>
        </p:grpSpPr>
        <p:cxnSp>
          <p:nvCxnSpPr>
            <p:cNvPr id="380" name="Google Shape;380;p40"/>
            <p:cNvCxnSpPr/>
            <p:nvPr/>
          </p:nvCxnSpPr>
          <p:spPr>
            <a:xfrm>
              <a:off x="4568182" y="2686050"/>
              <a:ext cx="0" cy="222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40"/>
            <p:cNvCxnSpPr/>
            <p:nvPr/>
          </p:nvCxnSpPr>
          <p:spPr>
            <a:xfrm>
              <a:off x="4568175" y="2457450"/>
              <a:ext cx="0" cy="228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40"/>
            <p:cNvCxnSpPr/>
            <p:nvPr/>
          </p:nvCxnSpPr>
          <p:spPr>
            <a:xfrm>
              <a:off x="4464827" y="2571750"/>
              <a:ext cx="22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40"/>
            <p:cNvCxnSpPr/>
            <p:nvPr/>
          </p:nvCxnSpPr>
          <p:spPr>
            <a:xfrm>
              <a:off x="4568182" y="236550"/>
              <a:ext cx="0" cy="2220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40"/>
            <p:cNvCxnSpPr/>
            <p:nvPr/>
          </p:nvCxnSpPr>
          <p:spPr>
            <a:xfrm>
              <a:off x="212925" y="2571750"/>
              <a:ext cx="4251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40"/>
            <p:cNvCxnSpPr/>
            <p:nvPr/>
          </p:nvCxnSpPr>
          <p:spPr>
            <a:xfrm>
              <a:off x="4693430" y="2571750"/>
              <a:ext cx="4212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6" name="Google Shape;386;p40"/>
          <p:cNvSpPr txBox="1"/>
          <p:nvPr/>
        </p:nvSpPr>
        <p:spPr>
          <a:xfrm>
            <a:off x="4671775" y="1979925"/>
            <a:ext cx="2260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questions</a:t>
            </a:r>
            <a:r>
              <a:rPr i="1" lang="en" sz="1900">
                <a:solidFill>
                  <a:schemeClr val="accent1"/>
                </a:solidFill>
                <a:latin typeface="Gloock"/>
                <a:ea typeface="Gloock"/>
                <a:cs typeface="Gloock"/>
                <a:sym typeface="Gloock"/>
              </a:rPr>
              <a:t> ??</a:t>
            </a:r>
            <a:endParaRPr i="1" sz="2100">
              <a:solidFill>
                <a:schemeClr val="dk1"/>
              </a:solidFill>
              <a:latin typeface="Gloock"/>
              <a:ea typeface="Gloock"/>
              <a:cs typeface="Gloock"/>
              <a:sym typeface="Gloo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OT Analysis by Slidesgo">
  <a:themeElements>
    <a:clrScheme name="Simple Light">
      <a:dk1>
        <a:srgbClr val="181818"/>
      </a:dk1>
      <a:lt1>
        <a:srgbClr val="E5E2D9"/>
      </a:lt1>
      <a:dk2>
        <a:srgbClr val="181818"/>
      </a:dk2>
      <a:lt2>
        <a:srgbClr val="FDFAFA"/>
      </a:lt2>
      <a:accent1>
        <a:srgbClr val="A9242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